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5.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ms-office.chartcolorstyle+xml" PartName="/ppt/charts/colors8.xml"/>
  <Override ContentType="application/vnd.ms-office.chartcolorstyle+xml" PartName="/ppt/charts/colors7.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5.xml"/>
  <Override ContentType="application/vnd.ms-office.chartstyle+xml" PartName="/ppt/charts/style7.xml"/>
  <Override ContentType="application/vnd.ms-office.chartstyle+xml" PartName="/ppt/charts/style8.xml"/>
  <Override ContentType="application/vnd.ms-office.chartstyle+xml" PartName="/ppt/charts/style1.xml"/>
  <Override ContentType="application/vnd.ms-office.chartstyle+xml" PartName="/ppt/charts/style6.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10287000" cx="18288000"/>
  <p:notesSz cx="6858000" cy="9144000"/>
  <p:embeddedFontLs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6">
          <p15:clr>
            <a:srgbClr val="A4A3A4"/>
          </p15:clr>
        </p15:guide>
        <p15:guide id="2" pos="2880">
          <p15:clr>
            <a:srgbClr val="A4A3A4"/>
          </p15:clr>
        </p15:guide>
      </p15:sldGuideLst>
    </p:ext>
    <p:ext uri="GoogleSlidesCustomDataVersion2">
      <go:slidesCustomData xmlns:go="http://customooxmlschemas.google.com/" r:id="rId42" roundtripDataSignature="AMtx7mh/AK74dtIhj7rdadNpOLypUZEQ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5C8192-B76C-4C4F-A875-58062AF1F6DC}">
  <a:tblStyle styleId="{1B5C8192-B76C-4C4F-A875-58062AF1F6D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Calibri"/>
          <a:ea typeface="Calibri"/>
          <a:cs typeface="Calibri"/>
        </a:font>
        <a:schemeClr val="lt1"/>
      </a:tcTxStyle>
      <a:tcStyle>
        <a:fill>
          <a:solidFill>
            <a:schemeClr val="dk1"/>
          </a:solidFill>
        </a:fill>
      </a:tcStyle>
    </a:lastCol>
    <a:firstCol>
      <a:tcTxStyle b="on" i="off">
        <a:font>
          <a:latin typeface="Calibri"/>
          <a:ea typeface="Calibri"/>
          <a:cs typeface="Calibri"/>
        </a:font>
        <a:schemeClr val="lt1"/>
      </a:tcTxStyle>
      <a:tcStyle>
        <a:fill>
          <a:solidFill>
            <a:schemeClr val="dk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6"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OpenSans-bold.fntdata"/><Relationship Id="rId16" Type="http://schemas.openxmlformats.org/officeDocument/2006/relationships/slide" Target="slides/slide10.xml"/><Relationship Id="rId38" Type="http://schemas.openxmlformats.org/officeDocument/2006/relationships/font" Target="fonts/OpenSans-regular.fntdata"/><Relationship Id="rId19" Type="http://schemas.openxmlformats.org/officeDocument/2006/relationships/slide" Target="slides/slide13.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Android</c:v>
                </c:pt>
              </c:strCache>
            </c:strRef>
          </c:tx>
          <c:spPr>
            <a:ln w="38100" cap="flat" cmpd="dbl" algn="ctr">
              <a:solidFill>
                <a:schemeClr val="accent1"/>
              </a:solidFill>
              <a:miter lim="800000"/>
            </a:ln>
            <a:effectLst/>
          </c:spPr>
          <c:marker>
            <c:symbol val="none"/>
          </c:marker>
          <c:cat>
            <c:strRef>
              <c:f>Sheet1!$A$2:$A$5</c:f>
              <c:strCache>
                <c:ptCount val="4"/>
                <c:pt idx="0">
                  <c:v>Demo</c:v>
                </c:pt>
                <c:pt idx="1">
                  <c:v>Weather</c:v>
                </c:pt>
                <c:pt idx="2">
                  <c:v>Tools</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81CA-459F-9B87-EBFAABF80202}"/>
            </c:ext>
          </c:extLst>
        </c:ser>
        <c:ser>
          <c:idx val="1"/>
          <c:order val="1"/>
          <c:tx>
            <c:strRef>
              <c:f>Sheet1!$C$1</c:f>
              <c:strCache>
                <c:ptCount val="1"/>
                <c:pt idx="0">
                  <c:v>Malware</c:v>
                </c:pt>
              </c:strCache>
            </c:strRef>
          </c:tx>
          <c:spPr>
            <a:ln w="38100" cap="flat" cmpd="dbl" algn="ctr">
              <a:solidFill>
                <a:schemeClr val="accent2"/>
              </a:solidFill>
              <a:miter lim="800000"/>
            </a:ln>
            <a:effectLst/>
          </c:spPr>
          <c:marker>
            <c:symbol val="none"/>
          </c:marker>
          <c:cat>
            <c:strRef>
              <c:f>Sheet1!$A$2:$A$5</c:f>
              <c:strCache>
                <c:ptCount val="4"/>
                <c:pt idx="0">
                  <c:v>Demo</c:v>
                </c:pt>
                <c:pt idx="1">
                  <c:v>Weather</c:v>
                </c:pt>
                <c:pt idx="2">
                  <c:v>Tools</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81CA-459F-9B87-EBFAABF80202}"/>
            </c:ext>
          </c:extLst>
        </c:ser>
        <c:ser>
          <c:idx val="2"/>
          <c:order val="2"/>
          <c:tx>
            <c:strRef>
              <c:f>Sheet1!$D$1</c:f>
              <c:strCache>
                <c:ptCount val="1"/>
                <c:pt idx="0">
                  <c:v>Benign</c:v>
                </c:pt>
              </c:strCache>
            </c:strRef>
          </c:tx>
          <c:spPr>
            <a:ln w="38100" cap="flat" cmpd="dbl" algn="ctr">
              <a:solidFill>
                <a:schemeClr val="accent3"/>
              </a:solidFill>
              <a:miter lim="800000"/>
            </a:ln>
            <a:effectLst/>
          </c:spPr>
          <c:marker>
            <c:symbol val="none"/>
          </c:marker>
          <c:cat>
            <c:strRef>
              <c:f>Sheet1!$A$2:$A$5</c:f>
              <c:strCache>
                <c:ptCount val="4"/>
                <c:pt idx="0">
                  <c:v>Demo</c:v>
                </c:pt>
                <c:pt idx="1">
                  <c:v>Weather</c:v>
                </c:pt>
                <c:pt idx="2">
                  <c:v>Tools</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81CA-459F-9B87-EBFAABF80202}"/>
            </c:ext>
          </c:extLst>
        </c:ser>
        <c:dLbls>
          <c:showLegendKey val="0"/>
          <c:showVal val="0"/>
          <c:showCatName val="0"/>
          <c:showSerName val="0"/>
          <c:showPercent val="0"/>
          <c:showBubbleSize val="0"/>
        </c:dLbls>
        <c:smooth val="0"/>
        <c:axId val="1148619535"/>
        <c:axId val="1148617615"/>
      </c:lineChart>
      <c:catAx>
        <c:axId val="1148619535"/>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crossAx val="1148617615"/>
        <c:crosses val="autoZero"/>
        <c:auto val="1"/>
        <c:lblAlgn val="ctr"/>
        <c:lblOffset val="100"/>
        <c:noMultiLvlLbl val="0"/>
      </c:catAx>
      <c:valAx>
        <c:axId val="1148617615"/>
        <c:scaling>
          <c:orientation val="minMax"/>
        </c:scaling>
        <c:delete val="0"/>
        <c:axPos val="l"/>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crossAx val="114861953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2">
              <a:lumMod val="90000"/>
            </a:schemeClr>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Sheet1!$B$1</c:f>
              <c:strCache>
                <c:ptCount val="1"/>
                <c:pt idx="0">
                  <c:v>Beingn</c:v>
                </c:pt>
              </c:strCache>
            </c:strRef>
          </c:tx>
          <c:spPr>
            <a:solidFill>
              <a:schemeClr val="accent1"/>
            </a:solidFill>
            <a:ln>
              <a:noFill/>
            </a:ln>
            <a:effectLst/>
            <a:sp3d/>
          </c:spPr>
          <c:invertIfNegative val="0"/>
          <c:cat>
            <c:strRef>
              <c:f>Sheet1!$A$2:$A$5</c:f>
              <c:strCache>
                <c:ptCount val="4"/>
                <c:pt idx="0">
                  <c:v>Medical</c:v>
                </c:pt>
                <c:pt idx="1">
                  <c:v>Lifestyle</c:v>
                </c:pt>
                <c:pt idx="2">
                  <c:v>Music</c:v>
                </c:pt>
                <c:pt idx="3">
                  <c:v>Social</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C7A-450F-8B33-207757ECD521}"/>
            </c:ext>
          </c:extLst>
        </c:ser>
        <c:ser>
          <c:idx val="1"/>
          <c:order val="1"/>
          <c:tx>
            <c:strRef>
              <c:f>Sheet1!$C$1</c:f>
              <c:strCache>
                <c:ptCount val="1"/>
                <c:pt idx="0">
                  <c:v>Malware</c:v>
                </c:pt>
              </c:strCache>
            </c:strRef>
          </c:tx>
          <c:spPr>
            <a:solidFill>
              <a:schemeClr val="accent2"/>
            </a:solidFill>
            <a:ln>
              <a:noFill/>
            </a:ln>
            <a:effectLst/>
            <a:sp3d/>
          </c:spPr>
          <c:invertIfNegative val="0"/>
          <c:cat>
            <c:strRef>
              <c:f>Sheet1!$A$2:$A$5</c:f>
              <c:strCache>
                <c:ptCount val="4"/>
                <c:pt idx="0">
                  <c:v>Medical</c:v>
                </c:pt>
                <c:pt idx="1">
                  <c:v>Lifestyle</c:v>
                </c:pt>
                <c:pt idx="2">
                  <c:v>Music</c:v>
                </c:pt>
                <c:pt idx="3">
                  <c:v>Social</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C7A-450F-8B33-207757ECD521}"/>
            </c:ext>
          </c:extLst>
        </c:ser>
        <c:ser>
          <c:idx val="2"/>
          <c:order val="2"/>
          <c:tx>
            <c:strRef>
              <c:f>Sheet1!$D$1</c:f>
              <c:strCache>
                <c:ptCount val="1"/>
                <c:pt idx="0">
                  <c:v>Android</c:v>
                </c:pt>
              </c:strCache>
            </c:strRef>
          </c:tx>
          <c:spPr>
            <a:solidFill>
              <a:schemeClr val="accent3"/>
            </a:solidFill>
            <a:ln>
              <a:noFill/>
            </a:ln>
            <a:effectLst/>
            <a:sp3d/>
          </c:spPr>
          <c:invertIfNegative val="0"/>
          <c:cat>
            <c:strRef>
              <c:f>Sheet1!$A$2:$A$5</c:f>
              <c:strCache>
                <c:ptCount val="4"/>
                <c:pt idx="0">
                  <c:v>Medical</c:v>
                </c:pt>
                <c:pt idx="1">
                  <c:v>Lifestyle</c:v>
                </c:pt>
                <c:pt idx="2">
                  <c:v>Music</c:v>
                </c:pt>
                <c:pt idx="3">
                  <c:v>Social</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C7A-450F-8B33-207757ECD521}"/>
            </c:ext>
          </c:extLst>
        </c:ser>
        <c:dLbls>
          <c:showLegendKey val="0"/>
          <c:showVal val="0"/>
          <c:showCatName val="0"/>
          <c:showSerName val="0"/>
          <c:showPercent val="0"/>
          <c:showBubbleSize val="0"/>
        </c:dLbls>
        <c:gapWidth val="150"/>
        <c:shape val="box"/>
        <c:axId val="1856695776"/>
        <c:axId val="1856689536"/>
        <c:axId val="0"/>
      </c:bar3DChart>
      <c:catAx>
        <c:axId val="18566957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crossAx val="1856689536"/>
        <c:crosses val="autoZero"/>
        <c:auto val="1"/>
        <c:lblAlgn val="ctr"/>
        <c:lblOffset val="100"/>
        <c:noMultiLvlLbl val="0"/>
      </c:catAx>
      <c:valAx>
        <c:axId val="185668953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6695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Android</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cat>
            <c:strRef>
              <c:f>Sheet1!$A$2:$A$5</c:f>
              <c:strCache>
                <c:ptCount val="4"/>
                <c:pt idx="0">
                  <c:v>Arcade </c:v>
                </c:pt>
                <c:pt idx="1">
                  <c:v>Business</c:v>
                </c:pt>
                <c:pt idx="2">
                  <c:v>Casual</c:v>
                </c:pt>
                <c:pt idx="3">
                  <c:v>Comic</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0B6-434A-BA18-459DF06E8C11}"/>
            </c:ext>
          </c:extLst>
        </c:ser>
        <c:ser>
          <c:idx val="1"/>
          <c:order val="1"/>
          <c:tx>
            <c:strRef>
              <c:f>Sheet1!$C$1</c:f>
              <c:strCache>
                <c:ptCount val="1"/>
                <c:pt idx="0">
                  <c:v>Malware</c:v>
                </c:pt>
              </c:strCache>
            </c:strRef>
          </c:tx>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invertIfNegative val="0"/>
          <c:cat>
            <c:strRef>
              <c:f>Sheet1!$A$2:$A$5</c:f>
              <c:strCache>
                <c:ptCount val="4"/>
                <c:pt idx="0">
                  <c:v>Arcade </c:v>
                </c:pt>
                <c:pt idx="1">
                  <c:v>Business</c:v>
                </c:pt>
                <c:pt idx="2">
                  <c:v>Casual</c:v>
                </c:pt>
                <c:pt idx="3">
                  <c:v>Comic</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0B6-434A-BA18-459DF06E8C11}"/>
            </c:ext>
          </c:extLst>
        </c:ser>
        <c:ser>
          <c:idx val="2"/>
          <c:order val="2"/>
          <c:tx>
            <c:strRef>
              <c:f>Sheet1!$D$1</c:f>
              <c:strCache>
                <c:ptCount val="1"/>
                <c:pt idx="0">
                  <c:v>Benign</c:v>
                </c:pt>
              </c:strCache>
            </c:strRef>
          </c:tx>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invertIfNegative val="0"/>
          <c:cat>
            <c:strRef>
              <c:f>Sheet1!$A$2:$A$5</c:f>
              <c:strCache>
                <c:ptCount val="4"/>
                <c:pt idx="0">
                  <c:v>Arcade </c:v>
                </c:pt>
                <c:pt idx="1">
                  <c:v>Business</c:v>
                </c:pt>
                <c:pt idx="2">
                  <c:v>Casual</c:v>
                </c:pt>
                <c:pt idx="3">
                  <c:v>Comic</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0B6-434A-BA18-459DF06E8C11}"/>
            </c:ext>
          </c:extLst>
        </c:ser>
        <c:dLbls>
          <c:showLegendKey val="0"/>
          <c:showVal val="0"/>
          <c:showCatName val="0"/>
          <c:showSerName val="0"/>
          <c:showPercent val="0"/>
          <c:showBubbleSize val="0"/>
        </c:dLbls>
        <c:gapWidth val="150"/>
        <c:overlap val="100"/>
        <c:axId val="1858152944"/>
        <c:axId val="1858130384"/>
      </c:barChart>
      <c:catAx>
        <c:axId val="185815294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crossAx val="1858130384"/>
        <c:crosses val="autoZero"/>
        <c:auto val="1"/>
        <c:lblAlgn val="ctr"/>
        <c:lblOffset val="100"/>
        <c:noMultiLvlLbl val="0"/>
      </c:catAx>
      <c:valAx>
        <c:axId val="185813038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crossAx val="1858152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lumMod val="9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B130-460E-BFEC-3F033D581BBC}"/>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B130-460E-BFEC-3F033D581BBC}"/>
              </c:ext>
            </c:extLst>
          </c:dPt>
          <c:dPt>
            <c:idx val="2"/>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B130-460E-BFEC-3F033D581BBC}"/>
              </c:ext>
            </c:extLst>
          </c:dPt>
          <c:dPt>
            <c:idx val="3"/>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B130-460E-BFEC-3F033D581BBC}"/>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90000"/>
                        </a:schemeClr>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1-B130-460E-BFEC-3F033D581BBC}"/>
                </c:ext>
              </c:extLst>
            </c:dLbl>
            <c:dLbl>
              <c:idx val="1"/>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90000"/>
                        </a:schemeClr>
                      </a:solidFill>
                      <a:latin typeface="+mn-lt"/>
                      <a:ea typeface="+mn-ea"/>
                      <a:cs typeface="+mn-cs"/>
                    </a:defRPr>
                  </a:pPr>
                  <a:endParaRPr lang="en-US"/>
                </a:p>
              </c:txPr>
              <c:showLegendKey val="0"/>
              <c:showVal val="0"/>
              <c:showCatName val="1"/>
              <c:showSerName val="0"/>
              <c:showPercent val="1"/>
              <c:showBubbleSize val="0"/>
              <c:extLst>
                <c:ext xmlns:c16="http://schemas.microsoft.com/office/drawing/2014/chart" uri="{C3380CC4-5D6E-409C-BE32-E72D297353CC}">
                  <c16:uniqueId val="{00000003-B130-460E-BFEC-3F033D581BBC}"/>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Benign</c:v>
                </c:pt>
                <c:pt idx="1">
                  <c:v>Malware</c:v>
                </c:pt>
              </c:strCache>
            </c:strRef>
          </c:cat>
          <c:val>
            <c:numRef>
              <c:f>Sheet1!$B$2:$B$5</c:f>
              <c:numCache>
                <c:formatCode>General</c:formatCode>
                <c:ptCount val="4"/>
                <c:pt idx="0">
                  <c:v>9999</c:v>
                </c:pt>
                <c:pt idx="1">
                  <c:v>20000</c:v>
                </c:pt>
              </c:numCache>
            </c:numRef>
          </c:val>
          <c:extLst>
            <c:ext xmlns:c16="http://schemas.microsoft.com/office/drawing/2014/chart" uri="{C3380CC4-5D6E-409C-BE32-E72D297353CC}">
              <c16:uniqueId val="{00000000-EF6E-4EC1-8C51-2259130B8183}"/>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ACDD-4CA7-9930-8620F5DD247A}"/>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ACDD-4CA7-9930-8620F5DD247A}"/>
              </c:ext>
            </c:extLst>
          </c:dPt>
          <c:dPt>
            <c:idx val="2"/>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ACDD-4CA7-9930-8620F5DD247A}"/>
              </c:ext>
            </c:extLst>
          </c:dPt>
          <c:dPt>
            <c:idx val="3"/>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ACDD-4CA7-9930-8620F5DD247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90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Benign</c:v>
                </c:pt>
                <c:pt idx="1">
                  <c:v>Malware</c:v>
                </c:pt>
              </c:strCache>
            </c:strRef>
          </c:cat>
          <c:val>
            <c:numRef>
              <c:f>Sheet1!$B$2:$B$5</c:f>
              <c:numCache>
                <c:formatCode>General</c:formatCode>
                <c:ptCount val="4"/>
                <c:pt idx="0">
                  <c:v>18000</c:v>
                </c:pt>
                <c:pt idx="1">
                  <c:v>20000</c:v>
                </c:pt>
              </c:numCache>
            </c:numRef>
          </c:val>
          <c:extLst>
            <c:ext xmlns:c16="http://schemas.microsoft.com/office/drawing/2014/chart" uri="{C3380CC4-5D6E-409C-BE32-E72D297353CC}">
              <c16:uniqueId val="{00000008-ACDD-4CA7-9930-8620F5DD247A}"/>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C4CC-4F0A-9919-E885CAB129C4}"/>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C4CC-4F0A-9919-E885CAB129C4}"/>
              </c:ext>
            </c:extLst>
          </c:dPt>
          <c:dPt>
            <c:idx val="2"/>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C4CC-4F0A-9919-E885CAB129C4}"/>
              </c:ext>
            </c:extLst>
          </c:dPt>
          <c:dPt>
            <c:idx val="3"/>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C4CC-4F0A-9919-E885CAB129C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2">
                        <a:lumMod val="90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Benign</c:v>
                </c:pt>
                <c:pt idx="1">
                  <c:v>Malware</c:v>
                </c:pt>
              </c:strCache>
            </c:strRef>
          </c:cat>
          <c:val>
            <c:numRef>
              <c:f>Sheet1!$B$2:$B$5</c:f>
              <c:numCache>
                <c:formatCode>General</c:formatCode>
                <c:ptCount val="4"/>
                <c:pt idx="0">
                  <c:v>9998</c:v>
                </c:pt>
                <c:pt idx="1">
                  <c:v>11108</c:v>
                </c:pt>
              </c:numCache>
            </c:numRef>
          </c:val>
          <c:extLst>
            <c:ext xmlns:c16="http://schemas.microsoft.com/office/drawing/2014/chart" uri="{C3380CC4-5D6E-409C-BE32-E72D297353CC}">
              <c16:uniqueId val="{00000008-C4CC-4F0A-9919-E885CAB129C4}"/>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02">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7.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8.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html/2301.12778v2" TargetMode="External"/><Relationship Id="rId3" Type="http://schemas.openxmlformats.org/officeDocument/2006/relationships/hyperlink" Target="https://www.scribd.com/document/798918257/7-Analysis-and-Detection-of-Malware-in-Android-Applications-Using-Machine-Learning"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a:solidFill>
                  <a:schemeClr val="dk1"/>
                </a:solidFill>
                <a:latin typeface="Arial"/>
                <a:ea typeface="Arial"/>
                <a:cs typeface="Arial"/>
                <a:sym typeface="Arial"/>
              </a:rPr>
              <a:t>presentation topic is "Android Malware Detection Systems," and I want to begin by emphasizing the same objective that guided my initial idea: understanding Android malware is not just a technical challenge—it is a global imperative. With over 70% of the world’s 6.9 billion smartphone users relying on Android devices, the platform has become an attractive target for increasingly sophisticated malware, threatening the privacy, security, and daily digital lives of billions</a:t>
            </a:r>
            <a:r>
              <a:rPr b="0" i="0" lang="en-US" sz="1200" u="sng" strike="noStrike">
                <a:solidFill>
                  <a:schemeClr val="dk1"/>
                </a:solidFill>
                <a:latin typeface="Arial"/>
                <a:ea typeface="Arial"/>
                <a:cs typeface="Arial"/>
                <a:sym typeface="Arial"/>
                <a:hlinkClick r:id="rId2">
                  <a:extLst>
                    <a:ext uri="{A12FA001-AC4F-418D-AE19-62706E023703}">
                      <ahyp:hlinkClr val="tx"/>
                    </a:ext>
                  </a:extLst>
                </a:hlinkClick>
              </a:rPr>
              <a:t>3</a:t>
            </a:r>
            <a:r>
              <a:rPr b="0" i="0" lang="en-US" sz="1200" u="sng" strike="noStrike">
                <a:solidFill>
                  <a:schemeClr val="dk1"/>
                </a:solidFill>
                <a:latin typeface="Arial"/>
                <a:ea typeface="Arial"/>
                <a:cs typeface="Arial"/>
                <a:sym typeface="Arial"/>
                <a:hlinkClick r:id="rId3">
                  <a:extLst>
                    <a:ext uri="{A12FA001-AC4F-418D-AE19-62706E023703}">
                      <ahyp:hlinkClr val="tx"/>
                    </a:ext>
                  </a:extLst>
                </a:hlinkClick>
              </a:rPr>
              <a:t>4</a:t>
            </a:r>
            <a:r>
              <a:rPr b="0" i="0" lang="en-US" sz="1200">
                <a:solidFill>
                  <a:schemeClr val="dk1"/>
                </a:solidFill>
                <a:latin typeface="Arial"/>
                <a:ea typeface="Arial"/>
                <a:cs typeface="Arial"/>
                <a:sym typeface="Arial"/>
              </a:rPr>
              <a:t>. As the volume and complexity of Android malware continue to surge, equipping ourselves with effective detection strategies is not merely beneficial—it is essential for safeguarding our interconnected world</a:t>
            </a:r>
            <a:endParaRPr b="0">
              <a:latin typeface="Arial"/>
              <a:ea typeface="Arial"/>
              <a:cs typeface="Arial"/>
              <a:sym typeface="Arial"/>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571500" lvl="0" marL="571500" rtl="0" algn="l">
              <a:spcBef>
                <a:spcPts val="0"/>
              </a:spcBef>
              <a:spcAft>
                <a:spcPts val="0"/>
              </a:spcAft>
              <a:buClr>
                <a:srgbClr val="282119"/>
              </a:buClr>
              <a:buSzPts val="3600"/>
              <a:buFont typeface="Arial"/>
              <a:buChar char="•"/>
            </a:pPr>
            <a:r>
              <a:rPr lang="en-US" sz="3600" u="none" strike="noStrike">
                <a:solidFill>
                  <a:srgbClr val="282119"/>
                </a:solidFill>
                <a:latin typeface="Open Sans"/>
                <a:ea typeface="Open Sans"/>
                <a:cs typeface="Open Sans"/>
                <a:sym typeface="Open Sans"/>
              </a:rPr>
              <a:t>Challenges in malware detection include:</a:t>
            </a:r>
            <a:endParaRPr/>
          </a:p>
          <a:p>
            <a:pPr indent="-457200" lvl="1" marL="914400" rtl="0" algn="l">
              <a:spcBef>
                <a:spcPts val="0"/>
              </a:spcBef>
              <a:spcAft>
                <a:spcPts val="0"/>
              </a:spcAft>
              <a:buClr>
                <a:srgbClr val="282119"/>
              </a:buClr>
              <a:buSzPts val="3200"/>
              <a:buFont typeface="Arial"/>
              <a:buChar char="—"/>
            </a:pPr>
            <a:r>
              <a:rPr lang="en-US" sz="3200" u="none" strike="noStrike">
                <a:solidFill>
                  <a:srgbClr val="282119"/>
                </a:solidFill>
                <a:latin typeface="Open Sans"/>
                <a:ea typeface="Open Sans"/>
                <a:cs typeface="Open Sans"/>
                <a:sym typeface="Open Sans"/>
              </a:rPr>
              <a:t>Diversity of malware families</a:t>
            </a:r>
            <a:endParaRPr/>
          </a:p>
          <a:p>
            <a:pPr indent="-457200" lvl="1" marL="914400" rtl="0" algn="l">
              <a:spcBef>
                <a:spcPts val="0"/>
              </a:spcBef>
              <a:spcAft>
                <a:spcPts val="0"/>
              </a:spcAft>
              <a:buClr>
                <a:srgbClr val="282119"/>
              </a:buClr>
              <a:buSzPts val="3200"/>
              <a:buFont typeface="Arial"/>
              <a:buChar char="—"/>
            </a:pPr>
            <a:r>
              <a:rPr lang="en-US" sz="3200" u="none" strike="noStrike">
                <a:solidFill>
                  <a:srgbClr val="282119"/>
                </a:solidFill>
                <a:latin typeface="Open Sans"/>
                <a:ea typeface="Open Sans"/>
                <a:cs typeface="Open Sans"/>
                <a:sym typeface="Open Sans"/>
              </a:rPr>
              <a:t>Polymorphic nature of malware</a:t>
            </a:r>
            <a:endParaRPr/>
          </a:p>
          <a:p>
            <a:pPr indent="-457200" lvl="1" marL="914400" rtl="0" algn="l">
              <a:spcBef>
                <a:spcPts val="0"/>
              </a:spcBef>
              <a:spcAft>
                <a:spcPts val="0"/>
              </a:spcAft>
              <a:buClr>
                <a:srgbClr val="282119"/>
              </a:buClr>
              <a:buSzPts val="3200"/>
              <a:buFont typeface="Arial"/>
              <a:buChar char="—"/>
            </a:pPr>
            <a:r>
              <a:rPr lang="en-US" sz="3200" u="none" strike="noStrike">
                <a:solidFill>
                  <a:srgbClr val="282119"/>
                </a:solidFill>
                <a:latin typeface="Open Sans"/>
                <a:ea typeface="Open Sans"/>
                <a:cs typeface="Open Sans"/>
                <a:sym typeface="Open Sans"/>
              </a:rPr>
              <a:t>Evasion strategies by malware writers</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is preprocessed and split into testing and training set s at an 8:2 ratio.</a:t>
            </a:r>
            <a:endParaRPr/>
          </a:p>
          <a:p>
            <a:pPr indent="0" lvl="0" marL="0" rtl="0" algn="l">
              <a:spcBef>
                <a:spcPts val="0"/>
              </a:spcBef>
              <a:spcAft>
                <a:spcPts val="0"/>
              </a:spcAft>
              <a:buNone/>
            </a:pPr>
            <a:r>
              <a:rPr lang="en-US"/>
              <a:t>The dataset contained multivariate data tables , requiring PCA to be applied to each dataset.</a:t>
            </a:r>
            <a:endParaRPr/>
          </a:p>
          <a:p>
            <a:pPr indent="0" lvl="0" marL="0" rtl="0" algn="l">
              <a:spcBef>
                <a:spcPts val="0"/>
              </a:spcBef>
              <a:spcAft>
                <a:spcPts val="0"/>
              </a:spcAft>
              <a:buNone/>
            </a:pPr>
            <a:r>
              <a:rPr lang="en-US"/>
              <a:t>Under and over sampling techniques were attempted but were not promising.</a:t>
            </a:r>
            <a:endParaRPr/>
          </a:p>
        </p:txBody>
      </p:sp>
      <p:sp>
        <p:nvSpPr>
          <p:cNvPr id="230" name="Google Shape;23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a:latin typeface="Arial"/>
              <a:ea typeface="Arial"/>
              <a:cs typeface="Arial"/>
              <a:sym typeface="Arial"/>
            </a:endParaRPr>
          </a:p>
        </p:txBody>
      </p:sp>
      <p:sp>
        <p:nvSpPr>
          <p:cNvPr id="306" name="Google Shape;3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 Columns like ‘Dangerous Permissions Count’ contains null values. We update such values by the mean of their respective columns.</a:t>
            </a:r>
            <a:endParaRPr/>
          </a:p>
          <a:p>
            <a:pPr indent="0" lvl="0" marL="0" rtl="0" algn="l">
              <a:spcBef>
                <a:spcPts val="0"/>
              </a:spcBef>
              <a:spcAft>
                <a:spcPts val="0"/>
              </a:spcAft>
              <a:buNone/>
            </a:pPr>
            <a:r>
              <a:rPr lang="en-US"/>
              <a:t>Data is analyzed based on the distribution of Malware and Benign applications in various settings, and several plots were made to visualize the results. </a:t>
            </a:r>
            <a:endParaRPr/>
          </a:p>
        </p:txBody>
      </p:sp>
      <p:sp>
        <p:nvSpPr>
          <p:cNvPr id="325" name="Google Shape;3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Matplotlib and Seaborn are used for plotting and visualization</a:t>
            </a:r>
            <a:endParaRPr/>
          </a:p>
        </p:txBody>
      </p:sp>
      <p:sp>
        <p:nvSpPr>
          <p:cNvPr id="335" name="Google Shape;33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Matplotlib and Seaborn are used for plotting and visualization</a:t>
            </a:r>
            <a:endParaRPr/>
          </a:p>
        </p:txBody>
      </p:sp>
      <p:sp>
        <p:nvSpPr>
          <p:cNvPr id="346" name="Google Shape;34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DT: </a:t>
            </a:r>
            <a:r>
              <a:rPr lang="en-US" sz="1200">
                <a:solidFill>
                  <a:schemeClr val="dk1"/>
                </a:solidFill>
                <a:latin typeface="Calibri"/>
                <a:ea typeface="Calibri"/>
                <a:cs typeface="Calibri"/>
                <a:sym typeface="Calibri"/>
              </a:rPr>
              <a:t>Tree-structured model for decision making. Each node represents a feature, branches represent decision rules, and leaves represent outcomes.</a:t>
            </a:r>
            <a:endParaRPr/>
          </a:p>
          <a:p>
            <a:pPr indent="0" lvl="0" marL="0" rtl="0" algn="l">
              <a:spcBef>
                <a:spcPts val="800"/>
              </a:spcBef>
              <a:spcAft>
                <a:spcPts val="0"/>
              </a:spcAft>
              <a:buNone/>
            </a:pPr>
            <a:r>
              <a:rPr b="1" lang="en-US">
                <a:latin typeface="Calibri"/>
                <a:ea typeface="Calibri"/>
                <a:cs typeface="Calibri"/>
                <a:sym typeface="Calibri"/>
              </a:rPr>
              <a:t>Naïve: </a:t>
            </a:r>
            <a:r>
              <a:rPr lang="en-US">
                <a:latin typeface="Calibri"/>
                <a:ea typeface="Calibri"/>
                <a:cs typeface="Calibri"/>
                <a:sym typeface="Calibri"/>
              </a:rPr>
              <a:t>Probabilistic theorem, feature independence, text classification</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Logistic: </a:t>
            </a:r>
            <a:r>
              <a:rPr b="0" lang="en-US" sz="1200">
                <a:solidFill>
                  <a:schemeClr val="dk1"/>
                </a:solidFill>
                <a:latin typeface="Calibri"/>
                <a:ea typeface="Calibri"/>
                <a:cs typeface="Calibri"/>
                <a:sym typeface="Calibri"/>
              </a:rPr>
              <a:t>Binary Classification: </a:t>
            </a:r>
            <a:r>
              <a:rPr lang="en-US" sz="1200">
                <a:solidFill>
                  <a:schemeClr val="dk1"/>
                </a:solidFill>
                <a:latin typeface="Calibri"/>
                <a:ea typeface="Calibri"/>
                <a:cs typeface="Calibri"/>
                <a:sym typeface="Calibri"/>
              </a:rPr>
              <a:t>Predicts binary outcomes.</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SVM: </a:t>
            </a:r>
            <a:r>
              <a:rPr b="0" lang="en-US" sz="1200">
                <a:solidFill>
                  <a:schemeClr val="dk1"/>
                </a:solidFill>
                <a:latin typeface="Calibri"/>
                <a:ea typeface="Calibri"/>
                <a:cs typeface="Calibri"/>
                <a:sym typeface="Calibri"/>
              </a:rPr>
              <a:t>supervised learning model, </a:t>
            </a:r>
            <a:r>
              <a:rPr b="0" i="0" lang="en-US">
                <a:latin typeface="Calibri"/>
                <a:ea typeface="Calibri"/>
                <a:cs typeface="Calibri"/>
                <a:sym typeface="Calibri"/>
              </a:rPr>
              <a:t>classifies apps by mapping their features into a hyperplane (best boundary).</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MLP: </a:t>
            </a:r>
            <a:r>
              <a:rPr b="0" i="0" lang="en-US">
                <a:latin typeface="Calibri"/>
                <a:ea typeface="Calibri"/>
                <a:cs typeface="Calibri"/>
                <a:sym typeface="Calibri"/>
              </a:rPr>
              <a:t>feedforward artificial neural network, uses nonlinear activation functions and is trained via backpropagation to learn classification</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RF: </a:t>
            </a:r>
            <a:r>
              <a:rPr b="0" i="0" lang="en-US">
                <a:latin typeface="Calibri"/>
                <a:ea typeface="Calibri"/>
                <a:cs typeface="Calibri"/>
                <a:sym typeface="Calibri"/>
              </a:rPr>
              <a:t>builds multiple decision trees using random subsets of data and features, then combines their outputs.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Random Forest was applied to the dataset, resulting in a significant improvement in accuracy.</a:t>
            </a:r>
            <a:endParaRPr/>
          </a:p>
          <a:p>
            <a:pPr indent="0" lvl="0" marL="0" rtl="0" algn="l">
              <a:spcBef>
                <a:spcPts val="0"/>
              </a:spcBef>
              <a:spcAft>
                <a:spcPts val="0"/>
              </a:spcAft>
              <a:buNone/>
            </a:pPr>
            <a:r>
              <a:rPr lang="en-US">
                <a:latin typeface="Calibri"/>
                <a:ea typeface="Calibri"/>
                <a:cs typeface="Calibri"/>
                <a:sym typeface="Calibri"/>
              </a:rPr>
              <a:t>Boosting was used to further increase prediction accuracy on unsampled and feature selected datasets. </a:t>
            </a:r>
            <a:endParaRPr/>
          </a:p>
          <a:p>
            <a:pPr indent="0" lvl="0" marL="0" rtl="0" algn="l">
              <a:spcBef>
                <a:spcPts val="0"/>
              </a:spcBef>
              <a:spcAft>
                <a:spcPts val="0"/>
              </a:spcAft>
              <a:buNone/>
            </a:pPr>
            <a:r>
              <a:rPr lang="en-US">
                <a:latin typeface="Calibri"/>
                <a:ea typeface="Calibri"/>
                <a:cs typeface="Calibri"/>
                <a:sym typeface="Calibri"/>
              </a:rPr>
              <a:t>SVM and MLP were applied to the final dataset, achieving the best results. </a:t>
            </a:r>
            <a:endParaRPr/>
          </a:p>
          <a:p>
            <a:pPr indent="0" lvl="0" marL="0" rtl="0" algn="l">
              <a:spcBef>
                <a:spcPts val="0"/>
              </a:spcBef>
              <a:spcAft>
                <a:spcPts val="0"/>
              </a:spcAft>
              <a:buNone/>
            </a:pPr>
            <a:r>
              <a:rPr lang="en-US">
                <a:latin typeface="Calibri"/>
                <a:ea typeface="Calibri"/>
                <a:cs typeface="Calibri"/>
                <a:sym typeface="Calibri"/>
              </a:rPr>
              <a:t>Significant progress was made in accuracy after feature selection and boosting.</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441" name="Google Shape;44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DT: </a:t>
            </a:r>
            <a:r>
              <a:rPr lang="en-US" sz="1200">
                <a:solidFill>
                  <a:schemeClr val="dk1"/>
                </a:solidFill>
                <a:latin typeface="Calibri"/>
                <a:ea typeface="Calibri"/>
                <a:cs typeface="Calibri"/>
                <a:sym typeface="Calibri"/>
              </a:rPr>
              <a:t>Tree-structured model for decision making. Each node represents a feature, branches represent decision rules, and leaves represent outcomes.</a:t>
            </a:r>
            <a:endParaRPr/>
          </a:p>
          <a:p>
            <a:pPr indent="0" lvl="0" marL="0" rtl="0" algn="l">
              <a:spcBef>
                <a:spcPts val="800"/>
              </a:spcBef>
              <a:spcAft>
                <a:spcPts val="0"/>
              </a:spcAft>
              <a:buNone/>
            </a:pPr>
            <a:r>
              <a:rPr b="1" lang="en-US">
                <a:latin typeface="Calibri"/>
                <a:ea typeface="Calibri"/>
                <a:cs typeface="Calibri"/>
                <a:sym typeface="Calibri"/>
              </a:rPr>
              <a:t>Naïve: </a:t>
            </a:r>
            <a:r>
              <a:rPr lang="en-US">
                <a:latin typeface="Calibri"/>
                <a:ea typeface="Calibri"/>
                <a:cs typeface="Calibri"/>
                <a:sym typeface="Calibri"/>
              </a:rPr>
              <a:t>Probabilistic theorem, feature independence, text classification</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Logistic: </a:t>
            </a:r>
            <a:r>
              <a:rPr b="0" lang="en-US" sz="1200">
                <a:solidFill>
                  <a:schemeClr val="dk1"/>
                </a:solidFill>
                <a:latin typeface="Calibri"/>
                <a:ea typeface="Calibri"/>
                <a:cs typeface="Calibri"/>
                <a:sym typeface="Calibri"/>
              </a:rPr>
              <a:t>Binary Classification: </a:t>
            </a:r>
            <a:r>
              <a:rPr lang="en-US" sz="1200">
                <a:solidFill>
                  <a:schemeClr val="dk1"/>
                </a:solidFill>
                <a:latin typeface="Calibri"/>
                <a:ea typeface="Calibri"/>
                <a:cs typeface="Calibri"/>
                <a:sym typeface="Calibri"/>
              </a:rPr>
              <a:t>Predicts binary outcomes.</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SVM: </a:t>
            </a:r>
            <a:r>
              <a:rPr b="0" lang="en-US" sz="1200">
                <a:solidFill>
                  <a:schemeClr val="dk1"/>
                </a:solidFill>
                <a:latin typeface="Calibri"/>
                <a:ea typeface="Calibri"/>
                <a:cs typeface="Calibri"/>
                <a:sym typeface="Calibri"/>
              </a:rPr>
              <a:t>supervised learning model, </a:t>
            </a:r>
            <a:r>
              <a:rPr b="0" i="0" lang="en-US">
                <a:latin typeface="Calibri"/>
                <a:ea typeface="Calibri"/>
                <a:cs typeface="Calibri"/>
                <a:sym typeface="Calibri"/>
              </a:rPr>
              <a:t>classifies apps by mapping their features into a hyperplane (best boundary).</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MLP: </a:t>
            </a:r>
            <a:r>
              <a:rPr b="0" i="0" lang="en-US">
                <a:latin typeface="Calibri"/>
                <a:ea typeface="Calibri"/>
                <a:cs typeface="Calibri"/>
                <a:sym typeface="Calibri"/>
              </a:rPr>
              <a:t>feedforward artificial neural network, uses nonlinear activation functions and is trained via backpropagation to learn classification</a:t>
            </a:r>
            <a:endParaRPr b="1"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RF: </a:t>
            </a:r>
            <a:r>
              <a:rPr b="0" i="0" lang="en-US">
                <a:latin typeface="Calibri"/>
                <a:ea typeface="Calibri"/>
                <a:cs typeface="Calibri"/>
                <a:sym typeface="Calibri"/>
              </a:rPr>
              <a:t>builds multiple decision trees using random subsets of data and features, then combines their outputs.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Random Forest was applied to the dataset, resulting in a significant improvement in accuracy.</a:t>
            </a:r>
            <a:endParaRPr/>
          </a:p>
          <a:p>
            <a:pPr indent="0" lvl="0" marL="0" rtl="0" algn="l">
              <a:spcBef>
                <a:spcPts val="0"/>
              </a:spcBef>
              <a:spcAft>
                <a:spcPts val="0"/>
              </a:spcAft>
              <a:buNone/>
            </a:pPr>
            <a:r>
              <a:rPr lang="en-US">
                <a:latin typeface="Calibri"/>
                <a:ea typeface="Calibri"/>
                <a:cs typeface="Calibri"/>
                <a:sym typeface="Calibri"/>
              </a:rPr>
              <a:t>Boosting was used to further increase prediction accuracy on unsampled and feature selected datasets. </a:t>
            </a:r>
            <a:endParaRPr/>
          </a:p>
          <a:p>
            <a:pPr indent="0" lvl="0" marL="0" rtl="0" algn="l">
              <a:spcBef>
                <a:spcPts val="0"/>
              </a:spcBef>
              <a:spcAft>
                <a:spcPts val="0"/>
              </a:spcAft>
              <a:buNone/>
            </a:pPr>
            <a:r>
              <a:rPr lang="en-US">
                <a:latin typeface="Calibri"/>
                <a:ea typeface="Calibri"/>
                <a:cs typeface="Calibri"/>
                <a:sym typeface="Calibri"/>
              </a:rPr>
              <a:t>SVM and MLP were applied to the final dataset, achieving the best results. </a:t>
            </a:r>
            <a:endParaRPr/>
          </a:p>
          <a:p>
            <a:pPr indent="0" lvl="0" marL="0" rtl="0" algn="l">
              <a:spcBef>
                <a:spcPts val="0"/>
              </a:spcBef>
              <a:spcAft>
                <a:spcPts val="0"/>
              </a:spcAft>
              <a:buNone/>
            </a:pPr>
            <a:r>
              <a:rPr lang="en-US">
                <a:latin typeface="Calibri"/>
                <a:ea typeface="Calibri"/>
                <a:cs typeface="Calibri"/>
                <a:sym typeface="Calibri"/>
              </a:rPr>
              <a:t>Significant progress was made in accuracy after feature selection and boosting.</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481" name="Google Shape;48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4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1"/>
          <p:cNvSpPr/>
          <p:nvPr>
            <p:ph idx="2" type="pic"/>
          </p:nvPr>
        </p:nvSpPr>
        <p:spPr>
          <a:xfrm>
            <a:off x="1792288" y="612775"/>
            <a:ext cx="5486400" cy="4114800"/>
          </a:xfrm>
          <a:prstGeom prst="rect">
            <a:avLst/>
          </a:prstGeom>
          <a:noFill/>
          <a:ln>
            <a:noFill/>
          </a:ln>
        </p:spPr>
      </p:sp>
      <p:sp>
        <p:nvSpPr>
          <p:cNvPr id="68" name="Google Shape;68;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6.png"/><Relationship Id="rId13" Type="http://schemas.openxmlformats.org/officeDocument/2006/relationships/image" Target="../media/image12.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6.png"/><Relationship Id="rId15" Type="http://schemas.openxmlformats.org/officeDocument/2006/relationships/image" Target="../media/image9.png"/><Relationship Id="rId14" Type="http://schemas.openxmlformats.org/officeDocument/2006/relationships/image" Target="../media/image5.png"/><Relationship Id="rId16"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8.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slide" Target="/ppt/slides/slide16.xml"/><Relationship Id="rId4" Type="http://schemas.openxmlformats.org/officeDocument/2006/relationships/slide" Target="/ppt/slides/slide21.xml"/><Relationship Id="rId5" Type="http://schemas.openxmlformats.org/officeDocument/2006/relationships/slide" Target="/ppt/slid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slide" Target="/ppt/slides/slide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slide" Target="/ppt/slides/slide12.xml"/><Relationship Id="rId5" Type="http://schemas.openxmlformats.org/officeDocument/2006/relationships/image" Target="../media/image30.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10.png"/><Relationship Id="rId7" Type="http://schemas.openxmlformats.org/officeDocument/2006/relationships/slide" Target="/ppt/slid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slide" Target="/ppt/slides/slide12.xml"/><Relationship Id="rId4" Type="http://schemas.openxmlformats.org/officeDocument/2006/relationships/image" Target="../media/image20.png"/><Relationship Id="rId5" Type="http://schemas.openxmlformats.org/officeDocument/2006/relationships/image" Target="../media/image32.png"/><Relationship Id="rId6"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26.png"/><Relationship Id="rId6" Type="http://schemas.openxmlformats.org/officeDocument/2006/relationships/image" Target="../media/image10.png"/><Relationship Id="rId7" Type="http://schemas.openxmlformats.org/officeDocument/2006/relationships/slide" Target="/ppt/slid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slide" Target="/ppt/slides/slide12.xml"/><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slide" Target="/ppt/slides/slide12.xml"/><Relationship Id="rId5" Type="http://schemas.openxmlformats.org/officeDocument/2006/relationships/image" Target="../media/image29.png"/><Relationship Id="rId6"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slide" Target="/ppt/slides/slide12.xml"/><Relationship Id="rId5" Type="http://schemas.openxmlformats.org/officeDocument/2006/relationships/image" Target="../media/image34.png"/><Relationship Id="rId6"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slide" Target="/ppt/slides/slide12.xml"/><Relationship Id="rId5" Type="http://schemas.openxmlformats.org/officeDocument/2006/relationships/image" Target="../media/image40.png"/><Relationship Id="rId6" Type="http://schemas.openxmlformats.org/officeDocument/2006/relationships/image" Target="../media/image35.png"/><Relationship Id="rId7"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slide" Target="/ppt/slides/slide12.xml"/><Relationship Id="rId5" Type="http://schemas.openxmlformats.org/officeDocument/2006/relationships/slide" Target="/ppt/slides/slide30.xml"/><Relationship Id="rId6" Type="http://schemas.openxmlformats.org/officeDocument/2006/relationships/slide" Target="/ppt/slid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slide" Target="/ppt/slides/slide12.xml"/><Relationship Id="rId5" Type="http://schemas.openxmlformats.org/officeDocument/2006/relationships/image" Target="../media/image44.png"/><Relationship Id="rId6"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slide" Target="/ppt/slides/slide13.xml"/><Relationship Id="rId4" Type="http://schemas.openxmlformats.org/officeDocument/2006/relationships/image" Target="../media/image43.png"/><Relationship Id="rId5" Type="http://schemas.openxmlformats.org/officeDocument/2006/relationships/slide" Target="/ppt/slides/slide12.xml"/><Relationship Id="rId6"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slide" Target="/ppt/slides/slide27.xml"/><Relationship Id="rId5" Type="http://schemas.openxmlformats.org/officeDocument/2006/relationships/image" Target="../media/image37.png"/><Relationship Id="rId6" Type="http://schemas.openxmlformats.org/officeDocument/2006/relationships/image" Target="../media/image47.png"/></Relationships>
</file>

<file path=ppt/slides/_rels/slide31.xml.rels><?xml version="1.0" encoding="UTF-8" standalone="yes"?><Relationships xmlns="http://schemas.openxmlformats.org/package/2006/relationships"><Relationship Id="rId11" Type="http://schemas.openxmlformats.org/officeDocument/2006/relationships/chart" Target="../charts/chart7.xml"/><Relationship Id="rId10" Type="http://schemas.openxmlformats.org/officeDocument/2006/relationships/chart" Target="../charts/chart6.xml"/><Relationship Id="rId12" Type="http://schemas.openxmlformats.org/officeDocument/2006/relationships/chart" Target="../charts/chart8.xml"/><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45.png"/><Relationship Id="rId9" Type="http://schemas.openxmlformats.org/officeDocument/2006/relationships/chart" Target="../charts/chart5.xml"/><Relationship Id="rId5" Type="http://schemas.openxmlformats.org/officeDocument/2006/relationships/chart" Target="../charts/chart1.xml"/><Relationship Id="rId6" Type="http://schemas.openxmlformats.org/officeDocument/2006/relationships/chart" Target="../charts/chart2.xml"/><Relationship Id="rId7" Type="http://schemas.openxmlformats.org/officeDocument/2006/relationships/chart" Target="../charts/chart3.xml"/><Relationship Id="rId8"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209550" y="2107242"/>
            <a:ext cx="17868900" cy="4247317"/>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800" u="none" cap="none" strike="noStrike">
                <a:solidFill>
                  <a:srgbClr val="0A1828"/>
                </a:solidFill>
                <a:latin typeface="Arial"/>
                <a:ea typeface="Arial"/>
                <a:cs typeface="Arial"/>
                <a:sym typeface="Arial"/>
              </a:rPr>
              <a:t>ANDROID MALWARE DETECTION SYSTEM</a:t>
            </a:r>
            <a:endParaRPr/>
          </a:p>
        </p:txBody>
      </p:sp>
      <p:sp>
        <p:nvSpPr>
          <p:cNvPr id="90" name="Google Shape;90;p1"/>
          <p:cNvSpPr/>
          <p:nvPr/>
        </p:nvSpPr>
        <p:spPr>
          <a:xfrm rot="-5400000">
            <a:off x="4000500" y="-40386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
          <p:cNvSpPr txBox="1"/>
          <p:nvPr/>
        </p:nvSpPr>
        <p:spPr>
          <a:xfrm>
            <a:off x="13318671" y="6834307"/>
            <a:ext cx="3886200" cy="1661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3600">
                <a:solidFill>
                  <a:srgbClr val="0A1828"/>
                </a:solidFill>
                <a:latin typeface="Open Sans"/>
                <a:ea typeface="Open Sans"/>
                <a:cs typeface="Open Sans"/>
                <a:sym typeface="Open Sans"/>
              </a:rPr>
              <a:t>Presented By:</a:t>
            </a:r>
            <a:endParaRPr/>
          </a:p>
          <a:p>
            <a:pPr indent="0" lvl="0" marL="0" marR="0" rtl="0" algn="r">
              <a:spcBef>
                <a:spcPts val="0"/>
              </a:spcBef>
              <a:spcAft>
                <a:spcPts val="0"/>
              </a:spcAft>
              <a:buNone/>
            </a:pPr>
            <a:r>
              <a:rPr lang="en-US" sz="3600">
                <a:solidFill>
                  <a:srgbClr val="0A1828"/>
                </a:solidFill>
                <a:latin typeface="Open Sans"/>
                <a:ea typeface="Open Sans"/>
                <a:cs typeface="Open Sans"/>
                <a:sym typeface="Open Sans"/>
              </a:rPr>
              <a:t>ShahrBano Sanii </a:t>
            </a:r>
            <a:endParaRPr/>
          </a:p>
          <a:p>
            <a:pPr indent="0" lvl="0" marL="0" marR="0" rtl="0" algn="r">
              <a:spcBef>
                <a:spcPts val="0"/>
              </a:spcBef>
              <a:spcAft>
                <a:spcPts val="0"/>
              </a:spcAft>
              <a:buNone/>
            </a:pPr>
            <a:r>
              <a:rPr lang="en-US" sz="3600">
                <a:solidFill>
                  <a:srgbClr val="0A1828"/>
                </a:solidFill>
                <a:latin typeface="Open Sans"/>
                <a:ea typeface="Open Sans"/>
                <a:cs typeface="Open Sans"/>
                <a:sym typeface="Open Sans"/>
              </a:rPr>
              <a:t>FA24-MCT-001</a:t>
            </a:r>
            <a:endParaRPr/>
          </a:p>
        </p:txBody>
      </p:sp>
      <p:sp>
        <p:nvSpPr>
          <p:cNvPr id="92" name="Google Shape;92;p1"/>
          <p:cNvSpPr txBox="1"/>
          <p:nvPr/>
        </p:nvSpPr>
        <p:spPr>
          <a:xfrm>
            <a:off x="1083129" y="6834307"/>
            <a:ext cx="3886200"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rgbClr val="0A1828"/>
                </a:solidFill>
                <a:latin typeface="Open Sans"/>
                <a:ea typeface="Open Sans"/>
                <a:cs typeface="Open Sans"/>
                <a:sym typeface="Open Sans"/>
              </a:rPr>
              <a:t>Presented To: </a:t>
            </a:r>
            <a:endParaRPr/>
          </a:p>
          <a:p>
            <a:pPr indent="0" lvl="0" marL="0" marR="0" rtl="0" algn="l">
              <a:spcBef>
                <a:spcPts val="0"/>
              </a:spcBef>
              <a:spcAft>
                <a:spcPts val="0"/>
              </a:spcAft>
              <a:buNone/>
            </a:pPr>
            <a:r>
              <a:rPr lang="en-US" sz="3600">
                <a:solidFill>
                  <a:srgbClr val="0A1828"/>
                </a:solidFill>
                <a:latin typeface="Open Sans"/>
                <a:ea typeface="Open Sans"/>
                <a:cs typeface="Open Sans"/>
                <a:sym typeface="Open Sans"/>
              </a:rPr>
              <a:t>Dr. Sulma Rashid</a:t>
            </a:r>
            <a:endParaRPr/>
          </a:p>
        </p:txBody>
      </p:sp>
      <p:sp>
        <p:nvSpPr>
          <p:cNvPr id="93" name="Google Shape;93;p1"/>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CDC-720 Malware Detection and Analysis</a:t>
            </a:r>
            <a:endParaRPr/>
          </a:p>
        </p:txBody>
      </p:sp>
      <p:sp>
        <p:nvSpPr>
          <p:cNvPr id="94" name="Google Shape;94;p1"/>
          <p:cNvSpPr txBox="1"/>
          <p:nvPr/>
        </p:nvSpPr>
        <p:spPr>
          <a:xfrm>
            <a:off x="10962904" y="603684"/>
            <a:ext cx="7335982"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Semester Project: Android Malware Detection 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
          <p:cNvPicPr preferRelativeResize="0"/>
          <p:nvPr/>
        </p:nvPicPr>
        <p:blipFill rotWithShape="1">
          <a:blip r:embed="rId3">
            <a:alphaModFix/>
          </a:blip>
          <a:srcRect b="0" l="0" r="0" t="0"/>
          <a:stretch/>
        </p:blipFill>
        <p:spPr>
          <a:xfrm>
            <a:off x="9562317" y="7021326"/>
            <a:ext cx="6122737" cy="2491703"/>
          </a:xfrm>
          <a:prstGeom prst="rect">
            <a:avLst/>
          </a:prstGeom>
          <a:noFill/>
          <a:ln>
            <a:noFill/>
          </a:ln>
        </p:spPr>
      </p:pic>
      <p:sp>
        <p:nvSpPr>
          <p:cNvPr id="100" name="Google Shape;100;p2"/>
          <p:cNvSpPr/>
          <p:nvPr/>
        </p:nvSpPr>
        <p:spPr>
          <a:xfrm>
            <a:off x="2767635" y="1712932"/>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01" name="Google Shape;101;p2"/>
          <p:cNvSpPr txBox="1"/>
          <p:nvPr/>
        </p:nvSpPr>
        <p:spPr>
          <a:xfrm rot="-5400000">
            <a:off x="-568970" y="4116169"/>
            <a:ext cx="518160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OUTLINE</a:t>
            </a:r>
            <a:endParaRPr/>
          </a:p>
        </p:txBody>
      </p:sp>
      <p:sp>
        <p:nvSpPr>
          <p:cNvPr id="102" name="Google Shape;102;p2"/>
          <p:cNvSpPr/>
          <p:nvPr/>
        </p:nvSpPr>
        <p:spPr>
          <a:xfrm rot="-5400000">
            <a:off x="-187893" y="127199"/>
            <a:ext cx="10287000" cy="9911209"/>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p:nvPr/>
        </p:nvSpPr>
        <p:spPr>
          <a:xfrm>
            <a:off x="2936466" y="1881762"/>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pic>
        <p:nvPicPr>
          <p:cNvPr id="104" name="Google Shape;104;p2"/>
          <p:cNvPicPr preferRelativeResize="0"/>
          <p:nvPr/>
        </p:nvPicPr>
        <p:blipFill rotWithShape="1">
          <a:blip r:embed="rId5">
            <a:alphaModFix/>
          </a:blip>
          <a:srcRect b="0" l="0" r="0" t="0"/>
          <a:stretch/>
        </p:blipFill>
        <p:spPr>
          <a:xfrm>
            <a:off x="3099251" y="2044545"/>
            <a:ext cx="379134" cy="379134"/>
          </a:xfrm>
          <a:prstGeom prst="rect">
            <a:avLst/>
          </a:prstGeom>
          <a:noFill/>
          <a:ln>
            <a:noFill/>
          </a:ln>
        </p:spPr>
      </p:pic>
      <p:sp>
        <p:nvSpPr>
          <p:cNvPr id="105" name="Google Shape;105;p2"/>
          <p:cNvSpPr/>
          <p:nvPr/>
        </p:nvSpPr>
        <p:spPr>
          <a:xfrm>
            <a:off x="2767635" y="2876687"/>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06" name="Google Shape;106;p2"/>
          <p:cNvSpPr/>
          <p:nvPr/>
        </p:nvSpPr>
        <p:spPr>
          <a:xfrm>
            <a:off x="2936466" y="3045518"/>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07" name="Google Shape;107;p2"/>
          <p:cNvSpPr/>
          <p:nvPr/>
        </p:nvSpPr>
        <p:spPr>
          <a:xfrm>
            <a:off x="2767635" y="4040443"/>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08" name="Google Shape;108;p2"/>
          <p:cNvSpPr/>
          <p:nvPr/>
        </p:nvSpPr>
        <p:spPr>
          <a:xfrm>
            <a:off x="2936466" y="4209272"/>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09" name="Google Shape;109;p2"/>
          <p:cNvSpPr/>
          <p:nvPr/>
        </p:nvSpPr>
        <p:spPr>
          <a:xfrm>
            <a:off x="2767635" y="5204198"/>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10" name="Google Shape;110;p2"/>
          <p:cNvSpPr/>
          <p:nvPr/>
        </p:nvSpPr>
        <p:spPr>
          <a:xfrm>
            <a:off x="2936466" y="5373027"/>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11" name="Google Shape;111;p2"/>
          <p:cNvSpPr/>
          <p:nvPr/>
        </p:nvSpPr>
        <p:spPr>
          <a:xfrm>
            <a:off x="2767635" y="6367952"/>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12" name="Google Shape;112;p2"/>
          <p:cNvSpPr/>
          <p:nvPr/>
        </p:nvSpPr>
        <p:spPr>
          <a:xfrm>
            <a:off x="2936466" y="6536783"/>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13" name="Google Shape;113;p2"/>
          <p:cNvSpPr/>
          <p:nvPr/>
        </p:nvSpPr>
        <p:spPr>
          <a:xfrm>
            <a:off x="2767635" y="7531708"/>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14" name="Google Shape;114;p2"/>
          <p:cNvSpPr/>
          <p:nvPr/>
        </p:nvSpPr>
        <p:spPr>
          <a:xfrm>
            <a:off x="2936466" y="7700538"/>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pic>
        <p:nvPicPr>
          <p:cNvPr id="115" name="Google Shape;115;p2"/>
          <p:cNvPicPr preferRelativeResize="0"/>
          <p:nvPr/>
        </p:nvPicPr>
        <p:blipFill rotWithShape="1">
          <a:blip r:embed="rId6">
            <a:alphaModFix/>
          </a:blip>
          <a:srcRect b="0" l="0" r="0" t="0"/>
          <a:stretch/>
        </p:blipFill>
        <p:spPr>
          <a:xfrm>
            <a:off x="3128579" y="3237629"/>
            <a:ext cx="320477" cy="320477"/>
          </a:xfrm>
          <a:prstGeom prst="rect">
            <a:avLst/>
          </a:prstGeom>
          <a:noFill/>
          <a:ln>
            <a:noFill/>
          </a:ln>
        </p:spPr>
      </p:pic>
      <p:pic>
        <p:nvPicPr>
          <p:cNvPr id="116" name="Google Shape;116;p2"/>
          <p:cNvPicPr preferRelativeResize="0"/>
          <p:nvPr/>
        </p:nvPicPr>
        <p:blipFill rotWithShape="1">
          <a:blip r:embed="rId7">
            <a:alphaModFix/>
          </a:blip>
          <a:srcRect b="0" l="0" r="0" t="0"/>
          <a:stretch/>
        </p:blipFill>
        <p:spPr>
          <a:xfrm>
            <a:off x="3128579" y="4401385"/>
            <a:ext cx="320477" cy="320477"/>
          </a:xfrm>
          <a:prstGeom prst="rect">
            <a:avLst/>
          </a:prstGeom>
          <a:noFill/>
          <a:ln>
            <a:noFill/>
          </a:ln>
        </p:spPr>
      </p:pic>
      <p:pic>
        <p:nvPicPr>
          <p:cNvPr id="117" name="Google Shape;117;p2"/>
          <p:cNvPicPr preferRelativeResize="0"/>
          <p:nvPr/>
        </p:nvPicPr>
        <p:blipFill rotWithShape="1">
          <a:blip r:embed="rId8">
            <a:alphaModFix/>
          </a:blip>
          <a:srcRect b="0" l="0" r="0" t="0"/>
          <a:stretch/>
        </p:blipFill>
        <p:spPr>
          <a:xfrm>
            <a:off x="3138594" y="5575154"/>
            <a:ext cx="300447" cy="300447"/>
          </a:xfrm>
          <a:prstGeom prst="rect">
            <a:avLst/>
          </a:prstGeom>
          <a:noFill/>
          <a:ln>
            <a:noFill/>
          </a:ln>
        </p:spPr>
      </p:pic>
      <p:pic>
        <p:nvPicPr>
          <p:cNvPr id="118" name="Google Shape;118;p2"/>
          <p:cNvPicPr preferRelativeResize="0"/>
          <p:nvPr/>
        </p:nvPicPr>
        <p:blipFill rotWithShape="1">
          <a:blip r:embed="rId9">
            <a:alphaModFix/>
          </a:blip>
          <a:srcRect b="0" l="0" r="0" t="0"/>
          <a:stretch/>
        </p:blipFill>
        <p:spPr>
          <a:xfrm>
            <a:off x="3128579" y="7892650"/>
            <a:ext cx="320477" cy="320477"/>
          </a:xfrm>
          <a:prstGeom prst="rect">
            <a:avLst/>
          </a:prstGeom>
          <a:noFill/>
          <a:ln>
            <a:noFill/>
          </a:ln>
        </p:spPr>
      </p:pic>
      <p:pic>
        <p:nvPicPr>
          <p:cNvPr id="119" name="Google Shape;119;p2"/>
          <p:cNvPicPr preferRelativeResize="0"/>
          <p:nvPr/>
        </p:nvPicPr>
        <p:blipFill rotWithShape="1">
          <a:blip r:embed="rId10">
            <a:alphaModFix/>
          </a:blip>
          <a:srcRect b="0" l="0" r="0" t="0"/>
          <a:stretch/>
        </p:blipFill>
        <p:spPr>
          <a:xfrm>
            <a:off x="3091662" y="6691977"/>
            <a:ext cx="394311" cy="394311"/>
          </a:xfrm>
          <a:prstGeom prst="rect">
            <a:avLst/>
          </a:prstGeom>
          <a:noFill/>
          <a:ln>
            <a:noFill/>
          </a:ln>
        </p:spPr>
      </p:pic>
      <p:sp>
        <p:nvSpPr>
          <p:cNvPr id="120" name="Google Shape;120;p2"/>
          <p:cNvSpPr/>
          <p:nvPr/>
        </p:nvSpPr>
        <p:spPr>
          <a:xfrm>
            <a:off x="2760047" y="8802281"/>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21" name="Google Shape;121;p2"/>
          <p:cNvSpPr/>
          <p:nvPr/>
        </p:nvSpPr>
        <p:spPr>
          <a:xfrm>
            <a:off x="2928878" y="8971112"/>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pic>
        <p:nvPicPr>
          <p:cNvPr id="122" name="Google Shape;122;p2"/>
          <p:cNvPicPr preferRelativeResize="0"/>
          <p:nvPr/>
        </p:nvPicPr>
        <p:blipFill rotWithShape="1">
          <a:blip r:embed="rId11">
            <a:alphaModFix/>
          </a:blip>
          <a:srcRect b="0" l="0" r="0" t="0"/>
          <a:stretch/>
        </p:blipFill>
        <p:spPr>
          <a:xfrm>
            <a:off x="3091662" y="9133895"/>
            <a:ext cx="379134" cy="379134"/>
          </a:xfrm>
          <a:prstGeom prst="rect">
            <a:avLst/>
          </a:prstGeom>
          <a:noFill/>
          <a:ln>
            <a:noFill/>
          </a:ln>
        </p:spPr>
      </p:pic>
      <p:sp>
        <p:nvSpPr>
          <p:cNvPr id="123" name="Google Shape;123;p2"/>
          <p:cNvSpPr/>
          <p:nvPr/>
        </p:nvSpPr>
        <p:spPr>
          <a:xfrm>
            <a:off x="2747099" y="516232"/>
            <a:ext cx="1042365" cy="1042361"/>
          </a:xfrm>
          <a:prstGeom prst="ellipse">
            <a:avLst/>
          </a:prstGeom>
          <a:solidFill>
            <a:srgbClr val="0A1828"/>
          </a:solidFill>
          <a:ln cap="flat" cmpd="sng" w="25400">
            <a:solidFill>
              <a:schemeClr val="lt1"/>
            </a:solidFill>
            <a:prstDash val="solid"/>
            <a:round/>
            <a:headEnd len="sm" w="sm" type="none"/>
            <a:tailEnd len="sm" w="sm" type="none"/>
          </a:ln>
          <a:effectLst>
            <a:outerShdw blurRad="50800" rotWithShape="0" algn="l" dist="38100">
              <a:srgbClr val="000000">
                <a:alpha val="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sp>
        <p:nvSpPr>
          <p:cNvPr id="124" name="Google Shape;124;p2"/>
          <p:cNvSpPr/>
          <p:nvPr/>
        </p:nvSpPr>
        <p:spPr>
          <a:xfrm>
            <a:off x="2915930" y="685061"/>
            <a:ext cx="704703" cy="704700"/>
          </a:xfrm>
          <a:prstGeom prst="ellipse">
            <a:avLst/>
          </a:prstGeom>
          <a:solidFill>
            <a:schemeClr val="lt1">
              <a:alpha val="98823"/>
            </a:schemeClr>
          </a:solidFill>
          <a:ln>
            <a:noFill/>
          </a:ln>
          <a:effectLst>
            <a:outerShdw blurRad="139700" sx="89000" rotWithShape="0" algn="ctr" sy="89000">
              <a:schemeClr val="accent4">
                <a:alpha val="4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25">
              <a:solidFill>
                <a:schemeClr val="lt1"/>
              </a:solidFill>
              <a:latin typeface="Calibri"/>
              <a:ea typeface="Calibri"/>
              <a:cs typeface="Calibri"/>
              <a:sym typeface="Calibri"/>
            </a:endParaRPr>
          </a:p>
        </p:txBody>
      </p:sp>
      <p:pic>
        <p:nvPicPr>
          <p:cNvPr id="125" name="Google Shape;125;p2"/>
          <p:cNvPicPr preferRelativeResize="0"/>
          <p:nvPr/>
        </p:nvPicPr>
        <p:blipFill rotWithShape="1">
          <a:blip r:embed="rId8">
            <a:alphaModFix/>
          </a:blip>
          <a:srcRect b="0" l="0" r="0" t="0"/>
          <a:stretch/>
        </p:blipFill>
        <p:spPr>
          <a:xfrm>
            <a:off x="3118058" y="887187"/>
            <a:ext cx="300447" cy="300447"/>
          </a:xfrm>
          <a:prstGeom prst="rect">
            <a:avLst/>
          </a:prstGeom>
          <a:noFill/>
          <a:ln>
            <a:noFill/>
          </a:ln>
        </p:spPr>
      </p:pic>
      <p:sp>
        <p:nvSpPr>
          <p:cNvPr id="126" name="Google Shape;126;p2"/>
          <p:cNvSpPr txBox="1"/>
          <p:nvPr/>
        </p:nvSpPr>
        <p:spPr>
          <a:xfrm>
            <a:off x="3934543" y="629893"/>
            <a:ext cx="5976664" cy="927546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marR="0" rtl="0" algn="l">
              <a:spcBef>
                <a:spcPts val="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Abstract</a:t>
            </a:r>
            <a:endParaRPr/>
          </a:p>
          <a:p>
            <a:pPr indent="-342900" lvl="0" marL="342900" marR="0" rtl="0" algn="l">
              <a:spcBef>
                <a:spcPts val="74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Introduction</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Objectives</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Scope</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Background</a:t>
            </a:r>
            <a:endParaRPr/>
          </a:p>
          <a:p>
            <a:pPr indent="-191770" lvl="1" marL="742950" marR="0" rtl="0" algn="l">
              <a:spcBef>
                <a:spcPts val="296"/>
              </a:spcBef>
              <a:spcAft>
                <a:spcPts val="0"/>
              </a:spcAft>
              <a:buClr>
                <a:schemeClr val="dk1"/>
              </a:buClr>
              <a:buSzPct val="100000"/>
              <a:buFont typeface="Noto Sans Symbols"/>
              <a:buNone/>
            </a:pPr>
            <a:r>
              <a:t/>
            </a:r>
            <a:endParaRPr b="0" i="0" sz="1600" u="none" cap="none" strike="noStrike">
              <a:solidFill>
                <a:srgbClr val="0A1828"/>
              </a:solidFill>
              <a:latin typeface="Open Sans"/>
              <a:ea typeface="Open Sans"/>
              <a:cs typeface="Open Sans"/>
              <a:sym typeface="Open Sans"/>
            </a:endParaRPr>
          </a:p>
          <a:p>
            <a:pPr indent="-342900" lvl="0" marL="342900" marR="0" rtl="0" algn="l">
              <a:spcBef>
                <a:spcPts val="74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Literature Review</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Prior work</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Algorithms</a:t>
            </a:r>
            <a:endParaRPr/>
          </a:p>
          <a:p>
            <a:pPr indent="-191770" lvl="1" marL="742950" marR="0" rtl="0" algn="l">
              <a:spcBef>
                <a:spcPts val="296"/>
              </a:spcBef>
              <a:spcAft>
                <a:spcPts val="0"/>
              </a:spcAft>
              <a:buClr>
                <a:schemeClr val="dk1"/>
              </a:buClr>
              <a:buSzPct val="100000"/>
              <a:buFont typeface="Noto Sans Symbols"/>
              <a:buNone/>
            </a:pPr>
            <a:r>
              <a:t/>
            </a:r>
            <a:endParaRPr b="0" i="0" sz="1600" u="none" cap="none" strike="noStrike">
              <a:solidFill>
                <a:srgbClr val="0A1828"/>
              </a:solidFill>
              <a:latin typeface="Open Sans"/>
              <a:ea typeface="Open Sans"/>
              <a:cs typeface="Open Sans"/>
              <a:sym typeface="Open Sans"/>
            </a:endParaRPr>
          </a:p>
          <a:p>
            <a:pPr indent="-342900" lvl="0" marL="342900" marR="0" rtl="0" algn="l">
              <a:spcBef>
                <a:spcPts val="74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Methodology</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Dataset</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Architecture</a:t>
            </a:r>
            <a:endParaRPr/>
          </a:p>
          <a:p>
            <a:pPr indent="-285750" lvl="1" marL="742950" marR="0" rtl="0" algn="l">
              <a:spcBef>
                <a:spcPts val="666"/>
              </a:spcBef>
              <a:spcAft>
                <a:spcPts val="0"/>
              </a:spcAft>
              <a:buClr>
                <a:srgbClr val="0A1828"/>
              </a:buClr>
              <a:buSzPct val="100000"/>
              <a:buFont typeface="Arial"/>
              <a:buChar char="–"/>
            </a:pPr>
            <a:r>
              <a:rPr b="0" i="0" lang="en-US" sz="3600" u="none" cap="none" strike="noStrike">
                <a:solidFill>
                  <a:srgbClr val="0A1828"/>
                </a:solidFill>
                <a:latin typeface="Open Sans"/>
                <a:ea typeface="Open Sans"/>
                <a:cs typeface="Open Sans"/>
                <a:sym typeface="Open Sans"/>
              </a:rPr>
              <a:t>Phases</a:t>
            </a:r>
            <a:endParaRPr/>
          </a:p>
          <a:p>
            <a:pPr indent="-168275" lvl="1" marL="646112" marR="0" rtl="0" algn="l">
              <a:spcBef>
                <a:spcPts val="370"/>
              </a:spcBef>
              <a:spcAft>
                <a:spcPts val="0"/>
              </a:spcAft>
              <a:buClr>
                <a:schemeClr val="dk1"/>
              </a:buClr>
              <a:buSzPct val="100000"/>
              <a:buFont typeface="Noto Sans Symbols"/>
              <a:buNone/>
            </a:pPr>
            <a:r>
              <a:t/>
            </a:r>
            <a:endParaRPr b="0" i="0" sz="2000" u="none" cap="none" strike="noStrike">
              <a:solidFill>
                <a:srgbClr val="0A1828"/>
              </a:solidFill>
              <a:latin typeface="Open Sans"/>
              <a:ea typeface="Open Sans"/>
              <a:cs typeface="Open Sans"/>
              <a:sym typeface="Open Sans"/>
            </a:endParaRPr>
          </a:p>
          <a:p>
            <a:pPr indent="-342900" lvl="0" marL="342900" marR="0" rtl="0" algn="l">
              <a:spcBef>
                <a:spcPts val="74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Timeline</a:t>
            </a:r>
            <a:endParaRPr/>
          </a:p>
          <a:p>
            <a:pPr indent="-342900" lvl="0" marL="342900" marR="0" rtl="0" algn="l">
              <a:spcBef>
                <a:spcPts val="740"/>
              </a:spcBef>
              <a:spcAft>
                <a:spcPts val="0"/>
              </a:spcAft>
              <a:buClr>
                <a:srgbClr val="0A1828"/>
              </a:buClr>
              <a:buSzPct val="100000"/>
              <a:buFont typeface="Noto Sans Symbols"/>
              <a:buChar char="❑"/>
            </a:pPr>
            <a:r>
              <a:rPr lang="en-US" sz="4000">
                <a:solidFill>
                  <a:srgbClr val="0A1828"/>
                </a:solidFill>
                <a:latin typeface="Open Sans"/>
                <a:ea typeface="Open Sans"/>
                <a:cs typeface="Open Sans"/>
                <a:sym typeface="Open Sans"/>
              </a:rPr>
              <a:t>References</a:t>
            </a:r>
            <a:endParaRPr/>
          </a:p>
          <a:p>
            <a:pPr indent="-134620" lvl="2" marL="1143000" marR="0" rtl="0" algn="l">
              <a:spcBef>
                <a:spcPts val="296"/>
              </a:spcBef>
              <a:spcAft>
                <a:spcPts val="0"/>
              </a:spcAft>
              <a:buClr>
                <a:schemeClr val="dk1"/>
              </a:buClr>
              <a:buSzPct val="100000"/>
              <a:buFont typeface="Arial"/>
              <a:buNone/>
            </a:pPr>
            <a:r>
              <a:t/>
            </a:r>
            <a:endParaRPr b="0" i="0" sz="1600" u="none" cap="none" strike="noStrike">
              <a:solidFill>
                <a:srgbClr val="0A1828"/>
              </a:solidFill>
              <a:latin typeface="Open Sans"/>
              <a:ea typeface="Open Sans"/>
              <a:cs typeface="Open Sans"/>
              <a:sym typeface="Open Sans"/>
            </a:endParaRPr>
          </a:p>
        </p:txBody>
      </p:sp>
      <p:pic>
        <p:nvPicPr>
          <p:cNvPr id="127" name="Google Shape;127;p2"/>
          <p:cNvPicPr preferRelativeResize="0"/>
          <p:nvPr/>
        </p:nvPicPr>
        <p:blipFill rotWithShape="1">
          <a:blip r:embed="rId12">
            <a:alphaModFix/>
          </a:blip>
          <a:srcRect b="0" l="21891" r="23172" t="0"/>
          <a:stretch/>
        </p:blipFill>
        <p:spPr>
          <a:xfrm>
            <a:off x="14630400" y="448623"/>
            <a:ext cx="3250079" cy="3336152"/>
          </a:xfrm>
          <a:prstGeom prst="rect">
            <a:avLst/>
          </a:prstGeom>
          <a:noFill/>
          <a:ln>
            <a:noFill/>
          </a:ln>
        </p:spPr>
      </p:pic>
      <p:pic>
        <p:nvPicPr>
          <p:cNvPr id="128" name="Google Shape;128;p2"/>
          <p:cNvPicPr preferRelativeResize="0"/>
          <p:nvPr/>
        </p:nvPicPr>
        <p:blipFill rotWithShape="1">
          <a:blip r:embed="rId13">
            <a:alphaModFix/>
          </a:blip>
          <a:srcRect b="0" l="0" r="0" t="0"/>
          <a:stretch/>
        </p:blipFill>
        <p:spPr>
          <a:xfrm>
            <a:off x="9562317" y="5446939"/>
            <a:ext cx="6015949" cy="3148773"/>
          </a:xfrm>
          <a:prstGeom prst="rect">
            <a:avLst/>
          </a:prstGeom>
          <a:noFill/>
          <a:ln>
            <a:noFill/>
          </a:ln>
        </p:spPr>
      </p:pic>
      <p:pic>
        <p:nvPicPr>
          <p:cNvPr id="129" name="Google Shape;129;p2"/>
          <p:cNvPicPr preferRelativeResize="0"/>
          <p:nvPr/>
        </p:nvPicPr>
        <p:blipFill rotWithShape="1">
          <a:blip r:embed="rId14">
            <a:alphaModFix/>
          </a:blip>
          <a:srcRect b="0" l="0" r="0" t="0"/>
          <a:stretch/>
        </p:blipFill>
        <p:spPr>
          <a:xfrm>
            <a:off x="13079077" y="6748683"/>
            <a:ext cx="4339163" cy="3161573"/>
          </a:xfrm>
          <a:prstGeom prst="rect">
            <a:avLst/>
          </a:prstGeom>
          <a:noFill/>
          <a:ln>
            <a:noFill/>
          </a:ln>
        </p:spPr>
      </p:pic>
      <p:pic>
        <p:nvPicPr>
          <p:cNvPr id="130" name="Google Shape;130;p2"/>
          <p:cNvPicPr preferRelativeResize="0"/>
          <p:nvPr/>
        </p:nvPicPr>
        <p:blipFill rotWithShape="1">
          <a:blip r:embed="rId15">
            <a:alphaModFix/>
          </a:blip>
          <a:srcRect b="46929" l="0" r="0" t="0"/>
          <a:stretch/>
        </p:blipFill>
        <p:spPr>
          <a:xfrm>
            <a:off x="12165211" y="7925020"/>
            <a:ext cx="2099182" cy="1677862"/>
          </a:xfrm>
          <a:prstGeom prst="rect">
            <a:avLst/>
          </a:prstGeom>
          <a:noFill/>
          <a:ln>
            <a:noFill/>
          </a:ln>
        </p:spPr>
      </p:pic>
      <p:pic>
        <p:nvPicPr>
          <p:cNvPr id="131" name="Google Shape;131;p2"/>
          <p:cNvPicPr preferRelativeResize="0"/>
          <p:nvPr/>
        </p:nvPicPr>
        <p:blipFill rotWithShape="1">
          <a:blip r:embed="rId16">
            <a:alphaModFix/>
          </a:blip>
          <a:srcRect b="0" l="0" r="0" t="0"/>
          <a:stretch/>
        </p:blipFill>
        <p:spPr>
          <a:xfrm>
            <a:off x="14010280" y="6502225"/>
            <a:ext cx="3135972" cy="188923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135" name="Shape 135"/>
        <p:cNvGrpSpPr/>
        <p:nvPr/>
      </p:nvGrpSpPr>
      <p:grpSpPr>
        <a:xfrm>
          <a:off x="0" y="0"/>
          <a:ext cx="0" cy="0"/>
          <a:chOff x="0" y="0"/>
          <a:chExt cx="0" cy="0"/>
        </a:xfrm>
      </p:grpSpPr>
      <p:sp>
        <p:nvSpPr>
          <p:cNvPr id="136" name="Google Shape;136;p3"/>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3"/>
          <p:cNvSpPr txBox="1"/>
          <p:nvPr/>
        </p:nvSpPr>
        <p:spPr>
          <a:xfrm>
            <a:off x="1028699" y="4397019"/>
            <a:ext cx="16230600" cy="2342949"/>
          </a:xfrm>
          <a:prstGeom prst="rect">
            <a:avLst/>
          </a:prstGeom>
          <a:noFill/>
          <a:ln>
            <a:noFill/>
          </a:ln>
        </p:spPr>
        <p:txBody>
          <a:bodyPr anchorCtr="0" anchor="t" bIns="0" lIns="0" spcFirstLastPara="1" rIns="0" wrap="square" tIns="0">
            <a:spAutoFit/>
          </a:bodyPr>
          <a:lstStyle/>
          <a:p>
            <a:pPr indent="0" lvl="0" marL="0" marR="0" rtl="0" algn="ctr">
              <a:lnSpc>
                <a:spcPct val="100275"/>
              </a:lnSpc>
              <a:spcBef>
                <a:spcPts val="0"/>
              </a:spcBef>
              <a:spcAft>
                <a:spcPts val="0"/>
              </a:spcAft>
              <a:buNone/>
            </a:pPr>
            <a:r>
              <a:rPr lang="en-US" sz="17400">
                <a:solidFill>
                  <a:srgbClr val="F2F2F2"/>
                </a:solidFill>
                <a:latin typeface="Arial"/>
                <a:ea typeface="Arial"/>
                <a:cs typeface="Arial"/>
                <a:sym typeface="Arial"/>
              </a:rPr>
              <a:t>MOTIVATION</a:t>
            </a:r>
            <a:endParaRPr/>
          </a:p>
        </p:txBody>
      </p:sp>
      <p:sp>
        <p:nvSpPr>
          <p:cNvPr id="138" name="Google Shape;138;p3"/>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139" name="Google Shape;139;p3"/>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4"/>
          <p:cNvSpPr/>
          <p:nvPr/>
        </p:nvSpPr>
        <p:spPr>
          <a:xfrm rot="-5400000">
            <a:off x="5638800" y="-2362200"/>
            <a:ext cx="10287000" cy="150114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4"/>
          <p:cNvSpPr txBox="1"/>
          <p:nvPr/>
        </p:nvSpPr>
        <p:spPr>
          <a:xfrm>
            <a:off x="512061" y="1363410"/>
            <a:ext cx="8380702" cy="3477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a:solidFill>
                  <a:schemeClr val="dk1"/>
                </a:solidFill>
                <a:latin typeface="Open Sans"/>
                <a:ea typeface="Open Sans"/>
                <a:cs typeface="Open Sans"/>
                <a:sym typeface="Open Sans"/>
              </a:rPr>
              <a:t>The rapid expansion of the Android market </a:t>
            </a:r>
            <a:endParaRPr/>
          </a:p>
          <a:p>
            <a:pPr indent="0" lvl="0" marL="0" marR="0" rtl="0" algn="l">
              <a:spcBef>
                <a:spcPts val="0"/>
              </a:spcBef>
              <a:spcAft>
                <a:spcPts val="0"/>
              </a:spcAft>
              <a:buNone/>
            </a:pPr>
            <a:r>
              <a:t/>
            </a:r>
            <a:endParaRPr b="0" i="0" sz="1000">
              <a:solidFill>
                <a:schemeClr val="dk1"/>
              </a:solidFill>
              <a:latin typeface="Open Sans"/>
              <a:ea typeface="Open Sans"/>
              <a:cs typeface="Open Sans"/>
              <a:sym typeface="Open Sans"/>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Constant increase of apps with malicious activities</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Often appear legitimate, masking harmful intent</a:t>
            </a:r>
            <a:endParaRPr/>
          </a:p>
          <a:p>
            <a:pPr indent="0" lvl="0" marL="0" marR="0" rtl="0" algn="l">
              <a:spcBef>
                <a:spcPts val="0"/>
              </a:spcBef>
              <a:spcAft>
                <a:spcPts val="0"/>
              </a:spcAft>
              <a:buNone/>
            </a:pPr>
            <a:r>
              <a:t/>
            </a:r>
            <a:endParaRPr b="0" i="0" sz="3600">
              <a:solidFill>
                <a:schemeClr val="dk1"/>
              </a:solidFill>
              <a:latin typeface="Open Sans"/>
              <a:ea typeface="Open Sans"/>
              <a:cs typeface="Open Sans"/>
              <a:sym typeface="Open Sans"/>
            </a:endParaRPr>
          </a:p>
        </p:txBody>
      </p:sp>
      <p:sp>
        <p:nvSpPr>
          <p:cNvPr id="147" name="Google Shape;147;p4"/>
          <p:cNvSpPr txBox="1"/>
          <p:nvPr/>
        </p:nvSpPr>
        <p:spPr>
          <a:xfrm>
            <a:off x="10067988" y="2019300"/>
            <a:ext cx="7707951" cy="77559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5400">
                <a:solidFill>
                  <a:srgbClr val="C00000"/>
                </a:solidFill>
                <a:latin typeface="Open Sans"/>
                <a:ea typeface="Open Sans"/>
                <a:cs typeface="Open Sans"/>
                <a:sym typeface="Open Sans"/>
              </a:rPr>
              <a:t>ALARMING STATISTICS</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ZDNet indicate 10%-24% of Play Store apps may be malicious. </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Highlights a significant security vulnerability for users.</a:t>
            </a:r>
            <a:endParaRPr/>
          </a:p>
          <a:p>
            <a:pPr indent="0" lvl="0" marL="0" marR="0" rtl="0" algn="l">
              <a:spcBef>
                <a:spcPts val="0"/>
              </a:spcBef>
              <a:spcAft>
                <a:spcPts val="0"/>
              </a:spcAft>
              <a:buNone/>
            </a:pPr>
            <a:r>
              <a:t/>
            </a:r>
            <a:endParaRPr b="0" i="0" sz="3600">
              <a:solidFill>
                <a:schemeClr val="dk1"/>
              </a:solidFill>
              <a:latin typeface="Open Sans"/>
              <a:ea typeface="Open Sans"/>
              <a:cs typeface="Open Sans"/>
              <a:sym typeface="Open Sans"/>
            </a:endParaRPr>
          </a:p>
          <a:p>
            <a:pPr indent="0" lvl="0" marL="0" marR="0" rtl="0" algn="l">
              <a:spcBef>
                <a:spcPts val="0"/>
              </a:spcBef>
              <a:spcAft>
                <a:spcPts val="0"/>
              </a:spcAft>
              <a:buNone/>
            </a:pPr>
            <a:r>
              <a:rPr b="1" i="0" lang="en-US" sz="4800">
                <a:solidFill>
                  <a:srgbClr val="0A1828"/>
                </a:solidFill>
                <a:latin typeface="Open Sans"/>
                <a:ea typeface="Open Sans"/>
                <a:cs typeface="Open Sans"/>
                <a:sym typeface="Open Sans"/>
              </a:rPr>
              <a:t>CHALLENGES IN DETECTION</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Current malware detection methods are resource-intensive. </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Struggle to keep pace with the rapid evolution of new threats. </a:t>
            </a:r>
            <a:endParaRPr/>
          </a:p>
          <a:p>
            <a:pPr indent="-571500" lvl="1" marL="1028700" marR="0" rtl="0" algn="l">
              <a:spcBef>
                <a:spcPts val="0"/>
              </a:spcBef>
              <a:spcAft>
                <a:spcPts val="0"/>
              </a:spcAft>
              <a:buClr>
                <a:schemeClr val="dk1"/>
              </a:buClr>
              <a:buSzPts val="3600"/>
              <a:buFont typeface="Arial"/>
              <a:buChar char="•"/>
            </a:pPr>
            <a:r>
              <a:rPr b="0" i="0" lang="en-US" sz="3600" u="none" cap="none" strike="noStrike">
                <a:solidFill>
                  <a:schemeClr val="dk1"/>
                </a:solidFill>
                <a:latin typeface="Open Sans"/>
                <a:ea typeface="Open Sans"/>
                <a:cs typeface="Open Sans"/>
                <a:sym typeface="Open Sans"/>
              </a:rPr>
              <a:t>New, agile solutions are critically needed.</a:t>
            </a:r>
            <a:endParaRPr/>
          </a:p>
        </p:txBody>
      </p:sp>
      <p:pic>
        <p:nvPicPr>
          <p:cNvPr descr="Create an Animated Bar Chart Race with Python | CodeX" id="148" name="Google Shape;148;p4"/>
          <p:cNvPicPr preferRelativeResize="0"/>
          <p:nvPr/>
        </p:nvPicPr>
        <p:blipFill rotWithShape="1">
          <a:blip r:embed="rId4">
            <a:alphaModFix/>
          </a:blip>
          <a:srcRect b="4753" l="0" r="2741" t="8970"/>
          <a:stretch/>
        </p:blipFill>
        <p:spPr>
          <a:xfrm>
            <a:off x="74900" y="4305300"/>
            <a:ext cx="9907300" cy="5869985"/>
          </a:xfrm>
          <a:prstGeom prst="rect">
            <a:avLst/>
          </a:prstGeom>
          <a:noFill/>
          <a:ln>
            <a:noFill/>
          </a:ln>
        </p:spPr>
      </p:pic>
      <p:sp>
        <p:nvSpPr>
          <p:cNvPr id="149" name="Google Shape;149;p4"/>
          <p:cNvSpPr/>
          <p:nvPr/>
        </p:nvSpPr>
        <p:spPr>
          <a:xfrm rot="-5400000">
            <a:off x="838200" y="-838200"/>
            <a:ext cx="10287000" cy="119634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4"/>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1D1B10"/>
                </a:solidFill>
                <a:latin typeface="Open Sans"/>
                <a:ea typeface="Open Sans"/>
                <a:cs typeface="Open Sans"/>
                <a:sym typeface="Open Sans"/>
              </a:rPr>
              <a:t>Android Malware Detection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154" name="Shape 154"/>
        <p:cNvGrpSpPr/>
        <p:nvPr/>
      </p:nvGrpSpPr>
      <p:grpSpPr>
        <a:xfrm>
          <a:off x="0" y="0"/>
          <a:ext cx="0" cy="0"/>
          <a:chOff x="0" y="0"/>
          <a:chExt cx="0" cy="0"/>
        </a:xfrm>
      </p:grpSpPr>
      <p:sp>
        <p:nvSpPr>
          <p:cNvPr id="155" name="Google Shape;155;p5"/>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txBox="1"/>
          <p:nvPr/>
        </p:nvSpPr>
        <p:spPr>
          <a:xfrm>
            <a:off x="1028699" y="4397019"/>
            <a:ext cx="16230600" cy="2342949"/>
          </a:xfrm>
          <a:prstGeom prst="rect">
            <a:avLst/>
          </a:prstGeom>
          <a:noFill/>
          <a:ln>
            <a:noFill/>
          </a:ln>
        </p:spPr>
        <p:txBody>
          <a:bodyPr anchorCtr="0" anchor="t" bIns="0" lIns="0" spcFirstLastPara="1" rIns="0" wrap="square" tIns="0">
            <a:spAutoFit/>
          </a:bodyPr>
          <a:lstStyle/>
          <a:p>
            <a:pPr indent="0" lvl="0" marL="0" marR="0" rtl="0" algn="ctr">
              <a:lnSpc>
                <a:spcPct val="100275"/>
              </a:lnSpc>
              <a:spcBef>
                <a:spcPts val="0"/>
              </a:spcBef>
              <a:spcAft>
                <a:spcPts val="0"/>
              </a:spcAft>
              <a:buNone/>
            </a:pPr>
            <a:r>
              <a:rPr lang="en-US" sz="17400">
                <a:solidFill>
                  <a:srgbClr val="F2F2F2"/>
                </a:solidFill>
                <a:latin typeface="Arial"/>
                <a:ea typeface="Arial"/>
                <a:cs typeface="Arial"/>
                <a:sym typeface="Arial"/>
              </a:rPr>
              <a:t>INTRODUCTION</a:t>
            </a:r>
            <a:endParaRPr/>
          </a:p>
        </p:txBody>
      </p:sp>
      <p:sp>
        <p:nvSpPr>
          <p:cNvPr id="157" name="Google Shape;157;p5"/>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158" name="Google Shape;158;p5"/>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nvSpPr>
        <p:spPr>
          <a:xfrm>
            <a:off x="1007170" y="2446520"/>
            <a:ext cx="13767364" cy="35086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u="none" strike="noStrike">
                <a:solidFill>
                  <a:srgbClr val="0A1828"/>
                </a:solidFill>
                <a:latin typeface="Open Sans"/>
                <a:ea typeface="Open Sans"/>
                <a:cs typeface="Open Sans"/>
                <a:sym typeface="Open Sans"/>
              </a:rPr>
              <a:t>The increasing prevalence of malicious software targeting Android devices has made it a crucial area of research.</a:t>
            </a:r>
            <a:endParaRPr/>
          </a:p>
          <a:p>
            <a:pPr indent="-381000" lvl="0" marL="457200" marR="0" rtl="0" algn="l">
              <a:spcBef>
                <a:spcPts val="0"/>
              </a:spcBef>
              <a:spcAft>
                <a:spcPts val="0"/>
              </a:spcAft>
              <a:buClr>
                <a:schemeClr val="dk1"/>
              </a:buClr>
              <a:buSzPts val="1200"/>
              <a:buFont typeface="Arial"/>
              <a:buNone/>
            </a:pPr>
            <a:r>
              <a:t/>
            </a:r>
            <a:endParaRPr sz="1200" u="none" strike="noStrike">
              <a:solidFill>
                <a:srgbClr val="0A1828"/>
              </a:solidFill>
              <a:latin typeface="Open Sans"/>
              <a:ea typeface="Open Sans"/>
              <a:cs typeface="Open Sans"/>
              <a:sym typeface="Open Sans"/>
            </a:endParaRPr>
          </a:p>
          <a:p>
            <a:pPr indent="-457200" lvl="0" marL="457200" marR="0" rtl="0" algn="l">
              <a:spcBef>
                <a:spcPts val="0"/>
              </a:spcBef>
              <a:spcAft>
                <a:spcPts val="0"/>
              </a:spcAft>
              <a:buClr>
                <a:srgbClr val="0A1828"/>
              </a:buClr>
              <a:buSzPts val="3600"/>
              <a:buFont typeface="Arial"/>
              <a:buChar char="•"/>
            </a:pPr>
            <a:r>
              <a:rPr lang="en-US" sz="3600" u="none" strike="noStrike">
                <a:solidFill>
                  <a:srgbClr val="0A1828"/>
                </a:solidFill>
                <a:latin typeface="Open Sans"/>
                <a:ea typeface="Open Sans"/>
                <a:cs typeface="Open Sans"/>
                <a:sym typeface="Open Sans"/>
              </a:rPr>
              <a:t>Detecting Android malware is essential to:</a:t>
            </a:r>
            <a:endParaRPr/>
          </a:p>
          <a:p>
            <a:pPr indent="-457200" lvl="1" marL="914400" marR="0" rtl="0" algn="l">
              <a:spcBef>
                <a:spcPts val="0"/>
              </a:spcBef>
              <a:spcAft>
                <a:spcPts val="0"/>
              </a:spcAft>
              <a:buClr>
                <a:srgbClr val="0A1828"/>
              </a:buClr>
              <a:buSzPts val="3200"/>
              <a:buFont typeface="Arial"/>
              <a:buChar char="—"/>
            </a:pPr>
            <a:r>
              <a:rPr b="0" i="0" lang="en-US" sz="3200" u="none" cap="none" strike="noStrike">
                <a:solidFill>
                  <a:srgbClr val="0A1828"/>
                </a:solidFill>
                <a:latin typeface="Open Sans"/>
                <a:ea typeface="Open Sans"/>
                <a:cs typeface="Open Sans"/>
                <a:sym typeface="Open Sans"/>
              </a:rPr>
              <a:t>Safeguard user privacy</a:t>
            </a:r>
            <a:endParaRPr/>
          </a:p>
          <a:p>
            <a:pPr indent="-457200" lvl="1" marL="914400" marR="0" rtl="0" algn="l">
              <a:spcBef>
                <a:spcPts val="0"/>
              </a:spcBef>
              <a:spcAft>
                <a:spcPts val="0"/>
              </a:spcAft>
              <a:buClr>
                <a:srgbClr val="0A1828"/>
              </a:buClr>
              <a:buSzPts val="3200"/>
              <a:buFont typeface="Arial"/>
              <a:buChar char="—"/>
            </a:pPr>
            <a:r>
              <a:rPr b="0" i="0" lang="en-US" sz="3200" u="none" cap="none" strike="noStrike">
                <a:solidFill>
                  <a:srgbClr val="0A1828"/>
                </a:solidFill>
                <a:latin typeface="Open Sans"/>
                <a:ea typeface="Open Sans"/>
                <a:cs typeface="Open Sans"/>
                <a:sym typeface="Open Sans"/>
              </a:rPr>
              <a:t>Protect data security</a:t>
            </a:r>
            <a:endParaRPr/>
          </a:p>
          <a:p>
            <a:pPr indent="-457200" lvl="1" marL="914400" marR="0" rtl="0" algn="l">
              <a:spcBef>
                <a:spcPts val="0"/>
              </a:spcBef>
              <a:spcAft>
                <a:spcPts val="0"/>
              </a:spcAft>
              <a:buClr>
                <a:srgbClr val="0A1828"/>
              </a:buClr>
              <a:buSzPts val="3200"/>
              <a:buFont typeface="Arial"/>
              <a:buChar char="—"/>
            </a:pPr>
            <a:r>
              <a:rPr b="0" i="0" lang="en-US" sz="3200" u="none" cap="none" strike="noStrike">
                <a:solidFill>
                  <a:srgbClr val="0A1828"/>
                </a:solidFill>
                <a:latin typeface="Open Sans"/>
                <a:ea typeface="Open Sans"/>
                <a:cs typeface="Open Sans"/>
                <a:sym typeface="Open Sans"/>
              </a:rPr>
              <a:t>Maintain device performance</a:t>
            </a:r>
            <a:endParaRPr/>
          </a:p>
          <a:p>
            <a:pPr indent="-381000" lvl="1" marL="914400" marR="0" rtl="0" algn="l">
              <a:spcBef>
                <a:spcPts val="0"/>
              </a:spcBef>
              <a:spcAft>
                <a:spcPts val="0"/>
              </a:spcAft>
              <a:buClr>
                <a:schemeClr val="dk1"/>
              </a:buClr>
              <a:buSzPts val="1200"/>
              <a:buFont typeface="Arial"/>
              <a:buNone/>
            </a:pPr>
            <a:r>
              <a:t/>
            </a:r>
            <a:endParaRPr b="0" i="0" sz="1200" u="none" cap="none" strike="noStrike">
              <a:solidFill>
                <a:srgbClr val="0A1828"/>
              </a:solidFill>
              <a:latin typeface="Open Sans"/>
              <a:ea typeface="Open Sans"/>
              <a:cs typeface="Open Sans"/>
              <a:sym typeface="Open Sans"/>
            </a:endParaRPr>
          </a:p>
        </p:txBody>
      </p:sp>
      <p:sp>
        <p:nvSpPr>
          <p:cNvPr id="165" name="Google Shape;165;p6"/>
          <p:cNvSpPr/>
          <p:nvPr/>
        </p:nvSpPr>
        <p:spPr>
          <a:xfrm>
            <a:off x="2494870" y="5926814"/>
            <a:ext cx="986484" cy="986484"/>
          </a:xfrm>
          <a:prstGeom prst="ellipse">
            <a:avLst/>
          </a:prstGeom>
          <a:solidFill>
            <a:srgbClr val="0A18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66" name="Google Shape;166;p6"/>
          <p:cNvSpPr/>
          <p:nvPr/>
        </p:nvSpPr>
        <p:spPr>
          <a:xfrm>
            <a:off x="2667000" y="6137048"/>
            <a:ext cx="566015" cy="566015"/>
          </a:xfrm>
          <a:prstGeom prst="rect">
            <a:avLst/>
          </a:prstGeom>
          <a:blipFill rotWithShape="1">
            <a:blip r:embed="rId3">
              <a:alphaModFix/>
            </a:blip>
            <a:stretch>
              <a:fillRect b="0" l="-1000" r="-1000" t="0"/>
            </a:stretch>
          </a:blip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Calibri"/>
              <a:ea typeface="Calibri"/>
              <a:cs typeface="Calibri"/>
              <a:sym typeface="Calibri"/>
            </a:endParaRPr>
          </a:p>
        </p:txBody>
      </p:sp>
      <p:sp>
        <p:nvSpPr>
          <p:cNvPr id="167" name="Google Shape;167;p6"/>
          <p:cNvSpPr/>
          <p:nvPr/>
        </p:nvSpPr>
        <p:spPr>
          <a:xfrm>
            <a:off x="8382000" y="5926814"/>
            <a:ext cx="986484" cy="986484"/>
          </a:xfrm>
          <a:prstGeom prst="ellipse">
            <a:avLst/>
          </a:prstGeom>
          <a:solidFill>
            <a:srgbClr val="0A18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68" name="Google Shape;168;p6"/>
          <p:cNvSpPr/>
          <p:nvPr/>
        </p:nvSpPr>
        <p:spPr>
          <a:xfrm>
            <a:off x="8592234" y="6137048"/>
            <a:ext cx="566015" cy="566015"/>
          </a:xfrm>
          <a:prstGeom prst="rect">
            <a:avLst/>
          </a:prstGeom>
          <a:blipFill rotWithShape="1">
            <a:blip r:embed="rId4">
              <a:alphaModFix/>
            </a:blip>
            <a:stretch>
              <a:fillRect b="0" l="0" r="0" t="0"/>
            </a:stretch>
          </a:blipFill>
          <a:ln cap="flat" cmpd="sng" w="25400">
            <a:solidFill>
              <a:srgbClr val="EEE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Calibri"/>
              <a:ea typeface="Calibri"/>
              <a:cs typeface="Calibri"/>
              <a:sym typeface="Calibri"/>
            </a:endParaRPr>
          </a:p>
        </p:txBody>
      </p:sp>
      <p:sp>
        <p:nvSpPr>
          <p:cNvPr id="169" name="Google Shape;169;p6"/>
          <p:cNvSpPr/>
          <p:nvPr/>
        </p:nvSpPr>
        <p:spPr>
          <a:xfrm>
            <a:off x="14828417" y="5986958"/>
            <a:ext cx="986484" cy="986484"/>
          </a:xfrm>
          <a:prstGeom prst="ellipse">
            <a:avLst/>
          </a:prstGeom>
          <a:solidFill>
            <a:srgbClr val="0A18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70" name="Google Shape;170;p6"/>
          <p:cNvSpPr/>
          <p:nvPr/>
        </p:nvSpPr>
        <p:spPr>
          <a:xfrm>
            <a:off x="15038651" y="6197192"/>
            <a:ext cx="566015" cy="566015"/>
          </a:xfrm>
          <a:prstGeom prst="rect">
            <a:avLst/>
          </a:prstGeom>
          <a:blipFill rotWithShape="1">
            <a:blip r:embed="rId5">
              <a:alphaModFix/>
            </a:blip>
            <a:stretch>
              <a:fillRect b="0" l="0" r="0" t="0"/>
            </a:stretch>
          </a:blipFill>
          <a:ln cap="flat" cmpd="sng" w="25400">
            <a:solidFill>
              <a:srgbClr val="EEEC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lt1"/>
              </a:solidFill>
              <a:latin typeface="Calibri"/>
              <a:ea typeface="Calibri"/>
              <a:cs typeface="Calibri"/>
              <a:sym typeface="Calibri"/>
            </a:endParaRPr>
          </a:p>
        </p:txBody>
      </p:sp>
      <p:grpSp>
        <p:nvGrpSpPr>
          <p:cNvPr id="171" name="Google Shape;171;p6"/>
          <p:cNvGrpSpPr/>
          <p:nvPr/>
        </p:nvGrpSpPr>
        <p:grpSpPr>
          <a:xfrm>
            <a:off x="302729" y="6735331"/>
            <a:ext cx="5555665" cy="3637633"/>
            <a:chOff x="2931581" y="1587148"/>
            <a:chExt cx="2472315" cy="3637633"/>
          </a:xfrm>
        </p:grpSpPr>
        <p:sp>
          <p:nvSpPr>
            <p:cNvPr id="172" name="Google Shape;172;p6"/>
            <p:cNvSpPr/>
            <p:nvPr/>
          </p:nvSpPr>
          <p:spPr>
            <a:xfrm>
              <a:off x="2931581" y="1587148"/>
              <a:ext cx="2459337" cy="306958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Open Sans"/>
                <a:ea typeface="Open Sans"/>
                <a:cs typeface="Open Sans"/>
                <a:sym typeface="Open Sans"/>
              </a:endParaRPr>
            </a:p>
          </p:txBody>
        </p:sp>
        <p:sp>
          <p:nvSpPr>
            <p:cNvPr id="173" name="Google Shape;173;p6"/>
            <p:cNvSpPr txBox="1"/>
            <p:nvPr/>
          </p:nvSpPr>
          <p:spPr>
            <a:xfrm>
              <a:off x="2944559" y="2155194"/>
              <a:ext cx="2459337" cy="30695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A1828"/>
                </a:buClr>
                <a:buSzPts val="3200"/>
                <a:buFont typeface="Arial"/>
                <a:buNone/>
              </a:pPr>
              <a:r>
                <a:rPr b="1" lang="en-US" sz="3200" cap="none">
                  <a:solidFill>
                    <a:srgbClr val="0A1828"/>
                  </a:solidFill>
                  <a:latin typeface="Arial"/>
                  <a:ea typeface="Arial"/>
                  <a:cs typeface="Arial"/>
                  <a:sym typeface="Arial"/>
                </a:rPr>
                <a:t>ANDROID VULNERABILITY</a:t>
              </a:r>
              <a:endParaRPr/>
            </a:p>
            <a:p>
              <a:pPr indent="0" lvl="0" marL="0" marR="0" rtl="0" algn="ctr">
                <a:spcBef>
                  <a:spcPts val="1120"/>
                </a:spcBef>
                <a:spcAft>
                  <a:spcPts val="0"/>
                </a:spcAft>
                <a:buNone/>
              </a:pPr>
              <a:r>
                <a:rPr b="0" lang="en-US" sz="2800">
                  <a:solidFill>
                    <a:srgbClr val="0A1828"/>
                  </a:solidFill>
                  <a:latin typeface="Open Sans"/>
                  <a:ea typeface="Open Sans"/>
                  <a:cs typeface="Open Sans"/>
                  <a:sym typeface="Open Sans"/>
                </a:rPr>
                <a:t>Android devices face increasing malware risks.</a:t>
              </a:r>
              <a:endParaRPr/>
            </a:p>
          </p:txBody>
        </p:sp>
      </p:grpSp>
      <p:grpSp>
        <p:nvGrpSpPr>
          <p:cNvPr id="174" name="Google Shape;174;p6"/>
          <p:cNvGrpSpPr/>
          <p:nvPr/>
        </p:nvGrpSpPr>
        <p:grpSpPr>
          <a:xfrm>
            <a:off x="5971529" y="2933700"/>
            <a:ext cx="13911680" cy="7390022"/>
            <a:chOff x="-1574067" y="1587148"/>
            <a:chExt cx="10301146" cy="7390022"/>
          </a:xfrm>
        </p:grpSpPr>
        <p:sp>
          <p:nvSpPr>
            <p:cNvPr id="175" name="Google Shape;175;p6"/>
            <p:cNvSpPr txBox="1"/>
            <p:nvPr/>
          </p:nvSpPr>
          <p:spPr>
            <a:xfrm>
              <a:off x="-1574067" y="5907583"/>
              <a:ext cx="4419903" cy="30695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A1828"/>
                </a:buClr>
                <a:buSzPts val="3200"/>
                <a:buFont typeface="Arial"/>
                <a:buNone/>
              </a:pPr>
              <a:r>
                <a:rPr b="1" lang="en-US" sz="3200" cap="none">
                  <a:solidFill>
                    <a:srgbClr val="0A1828"/>
                  </a:solidFill>
                  <a:latin typeface="Arial"/>
                  <a:ea typeface="Arial"/>
                  <a:cs typeface="Arial"/>
                  <a:sym typeface="Arial"/>
                </a:rPr>
                <a:t>TRADITIONAL ANTIVIRUS SHORTCOMINGS</a:t>
              </a:r>
              <a:endParaRPr/>
            </a:p>
            <a:p>
              <a:pPr indent="0" lvl="0" marL="0" marR="0" rtl="0" algn="ctr">
                <a:spcBef>
                  <a:spcPts val="1120"/>
                </a:spcBef>
                <a:spcAft>
                  <a:spcPts val="0"/>
                </a:spcAft>
                <a:buNone/>
              </a:pPr>
              <a:r>
                <a:rPr b="0" lang="en-US" sz="2800">
                  <a:solidFill>
                    <a:srgbClr val="0A1828"/>
                  </a:solidFill>
                  <a:latin typeface="Open Sans"/>
                  <a:ea typeface="Open Sans"/>
                  <a:cs typeface="Open Sans"/>
                  <a:sym typeface="Open Sans"/>
                </a:rPr>
                <a:t>Traditional solutions struggle with new threats</a:t>
              </a:r>
              <a:r>
                <a:rPr b="0" lang="en-US" sz="2400">
                  <a:solidFill>
                    <a:srgbClr val="0A1828"/>
                  </a:solidFill>
                  <a:latin typeface="Open Sans"/>
                  <a:ea typeface="Open Sans"/>
                  <a:cs typeface="Open Sans"/>
                  <a:sym typeface="Open Sans"/>
                </a:rPr>
                <a:t>.</a:t>
              </a:r>
              <a:endParaRPr/>
            </a:p>
          </p:txBody>
        </p:sp>
        <p:sp>
          <p:nvSpPr>
            <p:cNvPr id="176" name="Google Shape;176;p6"/>
            <p:cNvSpPr/>
            <p:nvPr/>
          </p:nvSpPr>
          <p:spPr>
            <a:xfrm>
              <a:off x="5673927" y="1587148"/>
              <a:ext cx="3053152" cy="306958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177" name="Google Shape;177;p6"/>
          <p:cNvSpPr txBox="1"/>
          <p:nvPr/>
        </p:nvSpPr>
        <p:spPr>
          <a:xfrm>
            <a:off x="838201" y="947716"/>
            <a:ext cx="17449799" cy="123110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000">
                <a:solidFill>
                  <a:srgbClr val="0A1828"/>
                </a:solidFill>
                <a:latin typeface="Arial"/>
                <a:ea typeface="Arial"/>
                <a:cs typeface="Arial"/>
                <a:sym typeface="Arial"/>
              </a:rPr>
              <a:t>NEED OF AND_MAL DETECTION</a:t>
            </a:r>
            <a:endParaRPr/>
          </a:p>
        </p:txBody>
      </p:sp>
      <p:sp>
        <p:nvSpPr>
          <p:cNvPr id="178" name="Google Shape;178;p6"/>
          <p:cNvSpPr txBox="1"/>
          <p:nvPr/>
        </p:nvSpPr>
        <p:spPr>
          <a:xfrm>
            <a:off x="12274035" y="7311910"/>
            <a:ext cx="5969073" cy="30695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A1828"/>
              </a:buClr>
              <a:buSzPts val="3200"/>
              <a:buFont typeface="Arial"/>
              <a:buNone/>
            </a:pPr>
            <a:r>
              <a:rPr b="1" lang="en-US" sz="3200" cap="none">
                <a:solidFill>
                  <a:srgbClr val="0A1828"/>
                </a:solidFill>
                <a:latin typeface="Arial"/>
                <a:ea typeface="Arial"/>
                <a:cs typeface="Arial"/>
                <a:sym typeface="Arial"/>
              </a:rPr>
              <a:t>MACHINE LEARNING ADVANTAGE</a:t>
            </a:r>
            <a:endParaRPr/>
          </a:p>
          <a:p>
            <a:pPr indent="0" lvl="0" marL="0" marR="0" rtl="0" algn="ctr">
              <a:spcBef>
                <a:spcPts val="1120"/>
              </a:spcBef>
              <a:spcAft>
                <a:spcPts val="0"/>
              </a:spcAft>
              <a:buNone/>
            </a:pPr>
            <a:r>
              <a:rPr b="0" lang="en-US" sz="2800">
                <a:solidFill>
                  <a:srgbClr val="0A1828"/>
                </a:solidFill>
                <a:latin typeface="Open Sans"/>
                <a:ea typeface="Open Sans"/>
                <a:cs typeface="Open Sans"/>
                <a:sym typeface="Open Sans"/>
              </a:rPr>
              <a:t>Machine learning models analyze app features effectively.</a:t>
            </a:r>
            <a:endParaRPr/>
          </a:p>
        </p:txBody>
      </p:sp>
      <p:sp>
        <p:nvSpPr>
          <p:cNvPr id="179" name="Google Shape;179;p6"/>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grpSp>
        <p:nvGrpSpPr>
          <p:cNvPr id="184" name="Google Shape;184;p7"/>
          <p:cNvGrpSpPr/>
          <p:nvPr/>
        </p:nvGrpSpPr>
        <p:grpSpPr>
          <a:xfrm>
            <a:off x="9144000" y="0"/>
            <a:ext cx="9144000" cy="10287000"/>
            <a:chOff x="0" y="0"/>
            <a:chExt cx="2408296" cy="2709333"/>
          </a:xfrm>
        </p:grpSpPr>
        <p:sp>
          <p:nvSpPr>
            <p:cNvPr id="185" name="Google Shape;185;p7"/>
            <p:cNvSpPr/>
            <p:nvPr/>
          </p:nvSpPr>
          <p:spPr>
            <a:xfrm>
              <a:off x="0" y="0"/>
              <a:ext cx="2408296" cy="2709333"/>
            </a:xfrm>
            <a:custGeom>
              <a:rect b="b" l="l" r="r" t="t"/>
              <a:pathLst>
                <a:path extrusionOk="0" h="2709333" w="2408296">
                  <a:moveTo>
                    <a:pt x="0" y="0"/>
                  </a:moveTo>
                  <a:lnTo>
                    <a:pt x="2408296" y="0"/>
                  </a:lnTo>
                  <a:lnTo>
                    <a:pt x="2408296" y="2709333"/>
                  </a:lnTo>
                  <a:lnTo>
                    <a:pt x="0" y="2709333"/>
                  </a:lnTo>
                  <a:close/>
                </a:path>
              </a:pathLst>
            </a:custGeom>
            <a:solidFill>
              <a:srgbClr val="0A182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7"/>
            <p:cNvSpPr txBox="1"/>
            <p:nvPr/>
          </p:nvSpPr>
          <p:spPr>
            <a:xfrm>
              <a:off x="0" y="28575"/>
              <a:ext cx="2408296" cy="2680758"/>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7" name="Google Shape;187;p7"/>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7"/>
          <p:cNvSpPr txBox="1"/>
          <p:nvPr/>
        </p:nvSpPr>
        <p:spPr>
          <a:xfrm>
            <a:off x="-21771" y="876300"/>
            <a:ext cx="9144000" cy="2531462"/>
          </a:xfrm>
          <a:prstGeom prst="rect">
            <a:avLst/>
          </a:prstGeom>
          <a:noFill/>
          <a:ln>
            <a:noFill/>
          </a:ln>
        </p:spPr>
        <p:txBody>
          <a:bodyPr anchorCtr="0" anchor="t" bIns="0" lIns="0" spcFirstLastPara="1" rIns="0" wrap="square" tIns="0">
            <a:spAutoFit/>
          </a:bodyPr>
          <a:lstStyle/>
          <a:p>
            <a:pPr indent="0" lvl="0" marL="0" marR="0" rtl="0" algn="ctr">
              <a:lnSpc>
                <a:spcPct val="173445"/>
              </a:lnSpc>
              <a:spcBef>
                <a:spcPts val="0"/>
              </a:spcBef>
              <a:spcAft>
                <a:spcPts val="0"/>
              </a:spcAft>
              <a:buNone/>
            </a:pPr>
            <a:r>
              <a:rPr lang="en-US" sz="11900" u="none" strike="noStrike">
                <a:solidFill>
                  <a:srgbClr val="0A1828"/>
                </a:solidFill>
                <a:latin typeface="Arial"/>
                <a:ea typeface="Arial"/>
                <a:cs typeface="Arial"/>
                <a:sym typeface="Arial"/>
              </a:rPr>
              <a:t>OBJECTIVES</a:t>
            </a:r>
            <a:endParaRPr/>
          </a:p>
        </p:txBody>
      </p:sp>
      <p:sp>
        <p:nvSpPr>
          <p:cNvPr id="189" name="Google Shape;189;p7"/>
          <p:cNvSpPr txBox="1"/>
          <p:nvPr/>
        </p:nvSpPr>
        <p:spPr>
          <a:xfrm>
            <a:off x="9448800" y="876300"/>
            <a:ext cx="8839200" cy="2439129"/>
          </a:xfrm>
          <a:prstGeom prst="rect">
            <a:avLst/>
          </a:prstGeom>
          <a:noFill/>
          <a:ln>
            <a:noFill/>
          </a:ln>
        </p:spPr>
        <p:txBody>
          <a:bodyPr anchorCtr="0" anchor="t" bIns="0" lIns="0" spcFirstLastPara="1" rIns="0" wrap="square" tIns="0">
            <a:spAutoFit/>
          </a:bodyPr>
          <a:lstStyle/>
          <a:p>
            <a:pPr indent="0" lvl="0" marL="0" marR="0" rtl="0" algn="ctr">
              <a:lnSpc>
                <a:spcPct val="173445"/>
              </a:lnSpc>
              <a:spcBef>
                <a:spcPts val="0"/>
              </a:spcBef>
              <a:spcAft>
                <a:spcPts val="0"/>
              </a:spcAft>
              <a:buNone/>
            </a:pPr>
            <a:r>
              <a:rPr lang="en-US" sz="11900" u="none" strike="noStrike">
                <a:solidFill>
                  <a:srgbClr val="F2F2F2"/>
                </a:solidFill>
                <a:latin typeface="Arial"/>
                <a:ea typeface="Arial"/>
                <a:cs typeface="Arial"/>
                <a:sym typeface="Arial"/>
              </a:rPr>
              <a:t>SCOPE</a:t>
            </a:r>
            <a:endParaRPr/>
          </a:p>
        </p:txBody>
      </p:sp>
      <p:sp>
        <p:nvSpPr>
          <p:cNvPr id="190" name="Google Shape;190;p7"/>
          <p:cNvSpPr txBox="1"/>
          <p:nvPr/>
        </p:nvSpPr>
        <p:spPr>
          <a:xfrm>
            <a:off x="1140343" y="4000500"/>
            <a:ext cx="6403457" cy="49244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200" u="none" strike="noStrike">
                <a:solidFill>
                  <a:srgbClr val="0A1828"/>
                </a:solidFill>
                <a:latin typeface="Open Sans"/>
                <a:ea typeface="Open Sans"/>
                <a:cs typeface="Open Sans"/>
                <a:sym typeface="Open Sans"/>
              </a:rPr>
              <a:t>The ultimate objective is to develop: </a:t>
            </a:r>
            <a:endParaRPr/>
          </a:p>
          <a:p>
            <a:pPr indent="0" lvl="0" marL="0" marR="0" rtl="0" algn="ctr">
              <a:spcBef>
                <a:spcPts val="0"/>
              </a:spcBef>
              <a:spcAft>
                <a:spcPts val="0"/>
              </a:spcAft>
              <a:buNone/>
            </a:pPr>
            <a:r>
              <a:t/>
            </a:r>
            <a:endParaRPr sz="3200" u="none" strike="noStrike">
              <a:solidFill>
                <a:srgbClr val="0A1828"/>
              </a:solidFill>
              <a:latin typeface="Open Sans"/>
              <a:ea typeface="Open Sans"/>
              <a:cs typeface="Open Sans"/>
              <a:sym typeface="Open Sans"/>
            </a:endParaRPr>
          </a:p>
          <a:p>
            <a:pPr indent="-457200" lvl="0" marL="457200" marR="0" rtl="0" algn="l">
              <a:spcBef>
                <a:spcPts val="0"/>
              </a:spcBef>
              <a:spcAft>
                <a:spcPts val="0"/>
              </a:spcAft>
              <a:buClr>
                <a:srgbClr val="0A1828"/>
              </a:buClr>
              <a:buSzPts val="3200"/>
              <a:buFont typeface="Arial"/>
              <a:buChar char="•"/>
            </a:pPr>
            <a:r>
              <a:rPr lang="en-US" sz="3200">
                <a:solidFill>
                  <a:srgbClr val="0A1828"/>
                </a:solidFill>
                <a:latin typeface="Open Sans"/>
                <a:ea typeface="Open Sans"/>
                <a:cs typeface="Open Sans"/>
                <a:sym typeface="Open Sans"/>
              </a:rPr>
              <a:t>R</a:t>
            </a:r>
            <a:r>
              <a:rPr lang="en-US" sz="3200" u="none" strike="noStrike">
                <a:solidFill>
                  <a:srgbClr val="0A1828"/>
                </a:solidFill>
                <a:latin typeface="Open Sans"/>
                <a:ea typeface="Open Sans"/>
                <a:cs typeface="Open Sans"/>
                <a:sym typeface="Open Sans"/>
              </a:rPr>
              <a:t>obust machine learning model </a:t>
            </a:r>
            <a:endParaRPr/>
          </a:p>
          <a:p>
            <a:pPr indent="-457200" lvl="1" marL="914400" marR="0" rtl="0" algn="l">
              <a:spcBef>
                <a:spcPts val="0"/>
              </a:spcBef>
              <a:spcAft>
                <a:spcPts val="0"/>
              </a:spcAft>
              <a:buClr>
                <a:srgbClr val="0A1828"/>
              </a:buClr>
              <a:buSzPts val="3200"/>
              <a:buFont typeface="Arial"/>
              <a:buChar char="•"/>
            </a:pPr>
            <a:r>
              <a:rPr b="0" i="0" lang="en-US" sz="3200" u="none" cap="none" strike="noStrike">
                <a:solidFill>
                  <a:srgbClr val="0A1828"/>
                </a:solidFill>
                <a:latin typeface="Open Sans"/>
                <a:ea typeface="Open Sans"/>
                <a:cs typeface="Open Sans"/>
                <a:sym typeface="Open Sans"/>
              </a:rPr>
              <a:t>capable of accurately classifying apps</a:t>
            </a:r>
            <a:endParaRPr/>
          </a:p>
          <a:p>
            <a:pPr indent="-457200" lvl="1" marL="914400" marR="0" rtl="0" algn="l">
              <a:spcBef>
                <a:spcPts val="0"/>
              </a:spcBef>
              <a:spcAft>
                <a:spcPts val="0"/>
              </a:spcAft>
              <a:buClr>
                <a:srgbClr val="0A1828"/>
              </a:buClr>
              <a:buSzPts val="3200"/>
              <a:buFont typeface="Arial"/>
              <a:buChar char="•"/>
            </a:pPr>
            <a:r>
              <a:rPr b="0" i="0" lang="en-US" sz="3200" u="none" cap="none" strike="noStrike">
                <a:solidFill>
                  <a:srgbClr val="0A1828"/>
                </a:solidFill>
                <a:latin typeface="Open Sans"/>
                <a:ea typeface="Open Sans"/>
                <a:cs typeface="Open Sans"/>
                <a:sym typeface="Open Sans"/>
              </a:rPr>
              <a:t>as benign or malicious.</a:t>
            </a:r>
            <a:endParaRPr/>
          </a:p>
          <a:p>
            <a:pPr indent="-457200" lvl="0" marL="457200" marR="0" rtl="0" algn="l">
              <a:spcBef>
                <a:spcPts val="0"/>
              </a:spcBef>
              <a:spcAft>
                <a:spcPts val="0"/>
              </a:spcAft>
              <a:buClr>
                <a:srgbClr val="0A1828"/>
              </a:buClr>
              <a:buSzPts val="3200"/>
              <a:buFont typeface="Arial"/>
              <a:buChar char="•"/>
            </a:pPr>
            <a:r>
              <a:rPr lang="en-US" sz="3200" u="none" strike="noStrike">
                <a:solidFill>
                  <a:srgbClr val="0A1828"/>
                </a:solidFill>
                <a:latin typeface="Open Sans"/>
                <a:ea typeface="Open Sans"/>
                <a:cs typeface="Open Sans"/>
                <a:sym typeface="Open Sans"/>
              </a:rPr>
              <a:t>Analyze app permissions and metadata.</a:t>
            </a:r>
            <a:endParaRPr/>
          </a:p>
          <a:p>
            <a:pPr indent="-457200" lvl="0" marL="457200" marR="0" rtl="0" algn="l">
              <a:spcBef>
                <a:spcPts val="0"/>
              </a:spcBef>
              <a:spcAft>
                <a:spcPts val="0"/>
              </a:spcAft>
              <a:buClr>
                <a:srgbClr val="0A1828"/>
              </a:buClr>
              <a:buSzPts val="3200"/>
              <a:buFont typeface="Arial"/>
              <a:buChar char="•"/>
            </a:pPr>
            <a:r>
              <a:rPr lang="en-US" sz="3200" u="none" strike="noStrike">
                <a:solidFill>
                  <a:srgbClr val="0A1828"/>
                </a:solidFill>
                <a:latin typeface="Open Sans"/>
                <a:ea typeface="Open Sans"/>
                <a:cs typeface="Open Sans"/>
                <a:sym typeface="Open Sans"/>
              </a:rPr>
              <a:t>Evaluate model performance with metrics.</a:t>
            </a:r>
            <a:endParaRPr/>
          </a:p>
        </p:txBody>
      </p:sp>
      <p:sp>
        <p:nvSpPr>
          <p:cNvPr id="191" name="Google Shape;191;p7"/>
          <p:cNvSpPr txBox="1"/>
          <p:nvPr/>
        </p:nvSpPr>
        <p:spPr>
          <a:xfrm>
            <a:off x="10172700" y="4000500"/>
            <a:ext cx="7391400" cy="590931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200" u="none" strike="noStrike">
                <a:solidFill>
                  <a:srgbClr val="F2F2F2"/>
                </a:solidFill>
                <a:latin typeface="Open Sans"/>
                <a:ea typeface="Open Sans"/>
                <a:cs typeface="Open Sans"/>
                <a:sym typeface="Open Sans"/>
              </a:rPr>
              <a:t>This project aims to address these challenges by leveraging:</a:t>
            </a:r>
            <a:endParaRPr/>
          </a:p>
          <a:p>
            <a:pPr indent="0" lvl="0" marL="0" marR="0" rtl="0" algn="ctr">
              <a:spcBef>
                <a:spcPts val="0"/>
              </a:spcBef>
              <a:spcAft>
                <a:spcPts val="0"/>
              </a:spcAft>
              <a:buNone/>
            </a:pPr>
            <a:r>
              <a:t/>
            </a:r>
            <a:endParaRPr sz="3200" u="none" strike="noStrike">
              <a:solidFill>
                <a:srgbClr val="F2F2F2"/>
              </a:solidFill>
              <a:latin typeface="Open Sans"/>
              <a:ea typeface="Open Sans"/>
              <a:cs typeface="Open Sans"/>
              <a:sym typeface="Open Sans"/>
            </a:endParaRPr>
          </a:p>
          <a:p>
            <a:pPr indent="-457200" lvl="0" marL="457200" marR="0" rtl="0" algn="l">
              <a:spcBef>
                <a:spcPts val="0"/>
              </a:spcBef>
              <a:spcAft>
                <a:spcPts val="0"/>
              </a:spcAft>
              <a:buClr>
                <a:srgbClr val="F2F2F2"/>
              </a:buClr>
              <a:buSzPts val="3200"/>
              <a:buFont typeface="Arial"/>
              <a:buChar char="•"/>
            </a:pPr>
            <a:r>
              <a:rPr lang="en-US" sz="3200" u="none" strike="noStrike">
                <a:solidFill>
                  <a:srgbClr val="F2F2F2"/>
                </a:solidFill>
                <a:latin typeface="Open Sans"/>
                <a:ea typeface="Open Sans"/>
                <a:cs typeface="Open Sans"/>
                <a:sym typeface="Open Sans"/>
              </a:rPr>
              <a:t>Machine Learning techniques</a:t>
            </a:r>
            <a:endParaRPr/>
          </a:p>
          <a:p>
            <a:pPr indent="-457200" lvl="1" marL="914400" marR="0" rtl="0" algn="l">
              <a:spcBef>
                <a:spcPts val="0"/>
              </a:spcBef>
              <a:spcAft>
                <a:spcPts val="0"/>
              </a:spcAft>
              <a:buClr>
                <a:srgbClr val="F2F2F2"/>
              </a:buClr>
              <a:buSzPts val="3200"/>
              <a:buFont typeface="Arial"/>
              <a:buChar char="•"/>
            </a:pPr>
            <a:r>
              <a:rPr b="0" i="0" lang="en-US" sz="3200" u="none" cap="none" strike="noStrike">
                <a:solidFill>
                  <a:srgbClr val="F2F2F2"/>
                </a:solidFill>
                <a:latin typeface="Open Sans"/>
                <a:ea typeface="Open Sans"/>
                <a:cs typeface="Open Sans"/>
                <a:sym typeface="Open Sans"/>
              </a:rPr>
              <a:t>Supervised</a:t>
            </a:r>
            <a:endParaRPr/>
          </a:p>
          <a:p>
            <a:pPr indent="-457200" lvl="1" marL="914400" marR="0" rtl="0" algn="l">
              <a:spcBef>
                <a:spcPts val="0"/>
              </a:spcBef>
              <a:spcAft>
                <a:spcPts val="0"/>
              </a:spcAft>
              <a:buClr>
                <a:srgbClr val="F2F2F2"/>
              </a:buClr>
              <a:buSzPts val="3200"/>
              <a:buFont typeface="Arial"/>
              <a:buChar char="•"/>
            </a:pPr>
            <a:r>
              <a:rPr b="0" i="0" lang="en-US" sz="3200" u="none" cap="none" strike="noStrike">
                <a:solidFill>
                  <a:srgbClr val="F2F2F2"/>
                </a:solidFill>
                <a:latin typeface="Open Sans"/>
                <a:ea typeface="Open Sans"/>
                <a:cs typeface="Open Sans"/>
                <a:sym typeface="Open Sans"/>
              </a:rPr>
              <a:t>Unsupervised learning</a:t>
            </a:r>
            <a:endParaRPr/>
          </a:p>
          <a:p>
            <a:pPr indent="-457200" lvl="0" marL="457200" marR="0" rtl="0" algn="l">
              <a:spcBef>
                <a:spcPts val="0"/>
              </a:spcBef>
              <a:spcAft>
                <a:spcPts val="0"/>
              </a:spcAft>
              <a:buClr>
                <a:srgbClr val="F2F2F2"/>
              </a:buClr>
              <a:buSzPts val="3200"/>
              <a:buFont typeface="Arial"/>
              <a:buChar char="•"/>
            </a:pPr>
            <a:r>
              <a:rPr lang="en-US" sz="3200" u="none" strike="noStrike">
                <a:solidFill>
                  <a:srgbClr val="F2F2F2"/>
                </a:solidFill>
                <a:latin typeface="Open Sans"/>
                <a:ea typeface="Open Sans"/>
                <a:cs typeface="Open Sans"/>
                <a:sym typeface="Open Sans"/>
              </a:rPr>
              <a:t>Feature extraction and dimensionality reduction (e.g., PCA)</a:t>
            </a:r>
            <a:endParaRPr/>
          </a:p>
          <a:p>
            <a:pPr indent="-457200" lvl="0" marL="457200" marR="0" rtl="0" algn="l">
              <a:spcBef>
                <a:spcPts val="0"/>
              </a:spcBef>
              <a:spcAft>
                <a:spcPts val="0"/>
              </a:spcAft>
              <a:buClr>
                <a:srgbClr val="F2F2F2"/>
              </a:buClr>
              <a:buSzPts val="3200"/>
              <a:buFont typeface="Arial"/>
              <a:buChar char="•"/>
            </a:pPr>
            <a:r>
              <a:rPr lang="en-US" sz="3200" u="none" strike="noStrike">
                <a:solidFill>
                  <a:srgbClr val="F2F2F2"/>
                </a:solidFill>
                <a:latin typeface="Open Sans"/>
                <a:ea typeface="Open Sans"/>
                <a:cs typeface="Open Sans"/>
                <a:sym typeface="Open Sans"/>
              </a:rPr>
              <a:t>Classification algorithms </a:t>
            </a:r>
            <a:endParaRPr/>
          </a:p>
          <a:p>
            <a:pPr indent="-457200" lvl="1" marL="914400" marR="0" rtl="0" algn="l">
              <a:spcBef>
                <a:spcPts val="0"/>
              </a:spcBef>
              <a:spcAft>
                <a:spcPts val="0"/>
              </a:spcAft>
              <a:buClr>
                <a:srgbClr val="F2F2F2"/>
              </a:buClr>
              <a:buSzPts val="3200"/>
              <a:buFont typeface="Arial"/>
              <a:buChar char="•"/>
            </a:pPr>
            <a:r>
              <a:rPr b="0" i="0" lang="en-US" sz="3200" u="none" cap="none" strike="noStrike">
                <a:solidFill>
                  <a:srgbClr val="F2F2F2"/>
                </a:solidFill>
                <a:latin typeface="Open Sans"/>
                <a:ea typeface="Open Sans"/>
                <a:cs typeface="Open Sans"/>
                <a:sym typeface="Open Sans"/>
              </a:rPr>
              <a:t>Random Forest</a:t>
            </a:r>
            <a:endParaRPr/>
          </a:p>
          <a:p>
            <a:pPr indent="-457200" lvl="1" marL="914400" marR="0" rtl="0" algn="l">
              <a:spcBef>
                <a:spcPts val="0"/>
              </a:spcBef>
              <a:spcAft>
                <a:spcPts val="0"/>
              </a:spcAft>
              <a:buClr>
                <a:srgbClr val="F2F2F2"/>
              </a:buClr>
              <a:buSzPts val="3200"/>
              <a:buFont typeface="Arial"/>
              <a:buChar char="•"/>
            </a:pPr>
            <a:r>
              <a:rPr b="0" i="0" lang="en-US" sz="3200" u="none" cap="none" strike="noStrike">
                <a:solidFill>
                  <a:srgbClr val="F2F2F2"/>
                </a:solidFill>
                <a:latin typeface="Open Sans"/>
                <a:ea typeface="Open Sans"/>
                <a:cs typeface="Open Sans"/>
                <a:sym typeface="Open Sans"/>
              </a:rPr>
              <a:t>Support Vector Machines</a:t>
            </a:r>
            <a:endParaRPr/>
          </a:p>
          <a:p>
            <a:pPr indent="-457200" lvl="1" marL="914400" marR="0" rtl="0" algn="l">
              <a:spcBef>
                <a:spcPts val="0"/>
              </a:spcBef>
              <a:spcAft>
                <a:spcPts val="0"/>
              </a:spcAft>
              <a:buClr>
                <a:srgbClr val="F2F2F2"/>
              </a:buClr>
              <a:buSzPts val="3200"/>
              <a:buFont typeface="Arial"/>
              <a:buChar char="•"/>
            </a:pPr>
            <a:r>
              <a:rPr b="0" i="0" lang="en-US" sz="3200" u="none" cap="none" strike="noStrike">
                <a:solidFill>
                  <a:srgbClr val="F2F2F2"/>
                </a:solidFill>
                <a:latin typeface="Open Sans"/>
                <a:ea typeface="Open Sans"/>
                <a:cs typeface="Open Sans"/>
                <a:sym typeface="Open Sans"/>
              </a:rPr>
              <a:t>Multi Layer Perception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195" name="Shape 195"/>
        <p:cNvGrpSpPr/>
        <p:nvPr/>
      </p:nvGrpSpPr>
      <p:grpSpPr>
        <a:xfrm>
          <a:off x="0" y="0"/>
          <a:ext cx="0" cy="0"/>
          <a:chOff x="0" y="0"/>
          <a:chExt cx="0" cy="0"/>
        </a:xfrm>
      </p:grpSpPr>
      <p:sp>
        <p:nvSpPr>
          <p:cNvPr id="196" name="Google Shape;196;p8"/>
          <p:cNvSpPr/>
          <p:nvPr/>
        </p:nvSpPr>
        <p:spPr>
          <a:xfrm rot="-5400000">
            <a:off x="4000500" y="-4000501"/>
            <a:ext cx="10287000" cy="18288001"/>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8"/>
          <p:cNvSpPr txBox="1"/>
          <p:nvPr/>
        </p:nvSpPr>
        <p:spPr>
          <a:xfrm>
            <a:off x="838200" y="3412671"/>
            <a:ext cx="16230600" cy="45761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7448">
                <a:solidFill>
                  <a:srgbClr val="F2F2F2"/>
                </a:solidFill>
                <a:latin typeface="Arial"/>
                <a:ea typeface="Arial"/>
                <a:cs typeface="Arial"/>
                <a:sym typeface="Arial"/>
              </a:rPr>
              <a:t>LITERATURE REVIEW</a:t>
            </a:r>
            <a:endParaRPr/>
          </a:p>
        </p:txBody>
      </p:sp>
      <p:sp>
        <p:nvSpPr>
          <p:cNvPr id="198" name="Google Shape;198;p8"/>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199" name="Google Shape;199;p8"/>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nvSpPr>
        <p:spPr>
          <a:xfrm rot="-5400000">
            <a:off x="-2272592" y="4551552"/>
            <a:ext cx="6284724" cy="123110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000">
                <a:solidFill>
                  <a:srgbClr val="0A1828"/>
                </a:solidFill>
                <a:latin typeface="Arial"/>
                <a:ea typeface="Arial"/>
                <a:cs typeface="Arial"/>
                <a:sym typeface="Arial"/>
              </a:rPr>
              <a:t>PRIOR WORK</a:t>
            </a:r>
            <a:endParaRPr/>
          </a:p>
        </p:txBody>
      </p:sp>
      <p:graphicFrame>
        <p:nvGraphicFramePr>
          <p:cNvPr id="205" name="Google Shape;205;p9"/>
          <p:cNvGraphicFramePr/>
          <p:nvPr/>
        </p:nvGraphicFramePr>
        <p:xfrm>
          <a:off x="1485323" y="1570479"/>
          <a:ext cx="3000000" cy="3000000"/>
        </p:xfrm>
        <a:graphic>
          <a:graphicData uri="http://schemas.openxmlformats.org/drawingml/2006/table">
            <a:tbl>
              <a:tblPr bandRow="1" firstCol="1" firstRow="1">
                <a:noFill/>
                <a:tableStyleId>{1B5C8192-B76C-4C4F-A875-58062AF1F6DC}</a:tableStyleId>
              </a:tblPr>
              <a:tblGrid>
                <a:gridCol w="5140750"/>
                <a:gridCol w="10176600"/>
              </a:tblGrid>
              <a:tr h="511800">
                <a:tc>
                  <a:txBody>
                    <a:bodyPr/>
                    <a:lstStyle/>
                    <a:p>
                      <a:pPr indent="0" lvl="0" marL="0" marR="0" rtl="0" algn="l">
                        <a:lnSpc>
                          <a:spcPct val="115000"/>
                        </a:lnSpc>
                        <a:spcBef>
                          <a:spcPts val="0"/>
                        </a:spcBef>
                        <a:spcAft>
                          <a:spcPts val="0"/>
                        </a:spcAft>
                        <a:buNone/>
                      </a:pPr>
                      <a:r>
                        <a:rPr lang="en-US" sz="3600" u="none" cap="none" strike="noStrike">
                          <a:latin typeface="Open Sans"/>
                          <a:ea typeface="Open Sans"/>
                          <a:cs typeface="Open Sans"/>
                          <a:sym typeface="Open Sans"/>
                        </a:rPr>
                        <a:t>Title</a:t>
                      </a:r>
                      <a:endParaRPr sz="3600" u="none" cap="none" strike="noStrike">
                        <a:latin typeface="Open Sans"/>
                        <a:ea typeface="Open Sans"/>
                        <a:cs typeface="Open Sans"/>
                        <a:sym typeface="Open Sans"/>
                      </a:endParaRPr>
                    </a:p>
                  </a:txBody>
                  <a:tcPr marT="5100" marB="5100" marR="5100" marL="5100">
                    <a:solidFill>
                      <a:srgbClr val="0A1828"/>
                    </a:solidFill>
                  </a:tcPr>
                </a:tc>
                <a:tc>
                  <a:txBody>
                    <a:bodyPr/>
                    <a:lstStyle/>
                    <a:p>
                      <a:pPr indent="0" lvl="0" marL="0" marR="0" rtl="0" algn="l">
                        <a:lnSpc>
                          <a:spcPct val="115000"/>
                        </a:lnSpc>
                        <a:spcBef>
                          <a:spcPts val="0"/>
                        </a:spcBef>
                        <a:spcAft>
                          <a:spcPts val="0"/>
                        </a:spcAft>
                        <a:buNone/>
                      </a:pPr>
                      <a:r>
                        <a:rPr lang="en-US" sz="3600" u="none" cap="none" strike="noStrike">
                          <a:latin typeface="Open Sans"/>
                          <a:ea typeface="Open Sans"/>
                          <a:cs typeface="Open Sans"/>
                          <a:sym typeface="Open Sans"/>
                        </a:rPr>
                        <a:t>Description</a:t>
                      </a:r>
                      <a:endParaRPr sz="3600" u="none" cap="none" strike="noStrike">
                        <a:latin typeface="Open Sans"/>
                        <a:ea typeface="Open Sans"/>
                        <a:cs typeface="Open Sans"/>
                        <a:sym typeface="Open Sans"/>
                      </a:endParaRPr>
                    </a:p>
                  </a:txBody>
                  <a:tcPr marT="5100" marB="5100" marR="5100" marL="5100">
                    <a:solidFill>
                      <a:srgbClr val="0A1828"/>
                    </a:solidFill>
                  </a:tcPr>
                </a:tc>
              </a:tr>
              <a:tr h="1926600">
                <a:tc>
                  <a:txBody>
                    <a:bodyPr/>
                    <a:lstStyle/>
                    <a:p>
                      <a:pPr indent="0" lvl="0" marL="0" marR="0" rtl="0" algn="l">
                        <a:lnSpc>
                          <a:spcPct val="115000"/>
                        </a:lnSpc>
                        <a:spcBef>
                          <a:spcPts val="0"/>
                        </a:spcBef>
                        <a:spcAft>
                          <a:spcPts val="0"/>
                        </a:spcAft>
                        <a:buNone/>
                      </a:pPr>
                      <a:r>
                        <a:rPr b="0" lang="en-US" sz="3200" u="none" cap="none" strike="noStrike">
                          <a:solidFill>
                            <a:schemeClr val="lt1"/>
                          </a:solidFill>
                          <a:latin typeface="Open Sans"/>
                          <a:ea typeface="Open Sans"/>
                          <a:cs typeface="Open Sans"/>
                          <a:sym typeface="Open Sans"/>
                        </a:rPr>
                        <a:t>Android Malware Prediction using Machine Learning Techniques: A Review (2024)</a:t>
                      </a:r>
                      <a:endParaRPr sz="4000" u="none" cap="none" strike="noStrike">
                        <a:latin typeface="Open Sans"/>
                        <a:ea typeface="Open Sans"/>
                        <a:cs typeface="Open Sans"/>
                        <a:sym typeface="Open Sans"/>
                      </a:endParaRPr>
                    </a:p>
                  </a:txBody>
                  <a:tcPr marT="46500" marB="46500" marR="5100" marL="5100" anchor="ctr">
                    <a:solidFill>
                      <a:srgbClr val="0A1828"/>
                    </a:solidFill>
                  </a:tcPr>
                </a:tc>
                <a:tc>
                  <a:txBody>
                    <a:bodyPr/>
                    <a:lstStyle/>
                    <a:p>
                      <a:pPr indent="-342900" lvl="0" marL="342900" marR="0" rtl="0" algn="l">
                        <a:lnSpc>
                          <a:spcPct val="115000"/>
                        </a:lnSpc>
                        <a:spcBef>
                          <a:spcPts val="0"/>
                        </a:spcBef>
                        <a:spcAft>
                          <a:spcPts val="0"/>
                        </a:spcAft>
                        <a:buClr>
                          <a:schemeClr val="dk1"/>
                        </a:buClr>
                        <a:buSzPts val="3200"/>
                        <a:buFont typeface="Open Sans"/>
                        <a:buChar char="-"/>
                      </a:pPr>
                      <a:r>
                        <a:rPr b="0" lang="en-US" sz="3200" u="none" cap="none" strike="noStrike">
                          <a:solidFill>
                            <a:schemeClr val="dk1"/>
                          </a:solidFill>
                          <a:latin typeface="Open Sans"/>
                          <a:ea typeface="Open Sans"/>
                          <a:cs typeface="Open Sans"/>
                          <a:sym typeface="Open Sans"/>
                        </a:rPr>
                        <a:t>Highlights the effectiveness of machine learning algorithms like </a:t>
                      </a:r>
                      <a:endParaRPr/>
                    </a:p>
                    <a:p>
                      <a:pPr indent="-342900" lvl="0" marL="342900" marR="0" rtl="0" algn="l">
                        <a:lnSpc>
                          <a:spcPct val="115000"/>
                        </a:lnSpc>
                        <a:spcBef>
                          <a:spcPts val="800"/>
                        </a:spcBef>
                        <a:spcAft>
                          <a:spcPts val="0"/>
                        </a:spcAft>
                        <a:buClr>
                          <a:schemeClr val="dk1"/>
                        </a:buClr>
                        <a:buSzPts val="3200"/>
                        <a:buFont typeface="Open Sans"/>
                        <a:buChar char="-"/>
                      </a:pPr>
                      <a:r>
                        <a:rPr b="0" lang="en-US" sz="3200" u="none" cap="none" strike="noStrike">
                          <a:solidFill>
                            <a:schemeClr val="dk1"/>
                          </a:solidFill>
                          <a:latin typeface="Open Sans"/>
                          <a:ea typeface="Open Sans"/>
                          <a:cs typeface="Open Sans"/>
                          <a:sym typeface="Open Sans"/>
                        </a:rPr>
                        <a:t>SVMs, decision trees, and random forests in malware detection. </a:t>
                      </a:r>
                      <a:endParaRPr/>
                    </a:p>
                    <a:p>
                      <a:pPr indent="-342900" lvl="0" marL="342900" marR="0" rtl="0" algn="l">
                        <a:lnSpc>
                          <a:spcPct val="115000"/>
                        </a:lnSpc>
                        <a:spcBef>
                          <a:spcPts val="800"/>
                        </a:spcBef>
                        <a:spcAft>
                          <a:spcPts val="0"/>
                        </a:spcAft>
                        <a:buClr>
                          <a:schemeClr val="dk1"/>
                        </a:buClr>
                        <a:buSzPts val="3200"/>
                        <a:buFont typeface="Open Sans"/>
                        <a:buChar char="-"/>
                      </a:pPr>
                      <a:r>
                        <a:rPr b="0" lang="en-US" sz="3200" u="none" cap="none" strike="noStrike">
                          <a:solidFill>
                            <a:schemeClr val="dk1"/>
                          </a:solidFill>
                          <a:latin typeface="Open Sans"/>
                          <a:ea typeface="Open Sans"/>
                          <a:cs typeface="Open Sans"/>
                          <a:sym typeface="Open Sans"/>
                        </a:rPr>
                        <a:t>Emphasizes feature selection and dimensionality reduction for improved accuracy.</a:t>
                      </a:r>
                      <a:endParaRPr sz="3600" u="none" cap="none" strike="noStrike">
                        <a:latin typeface="Open Sans"/>
                        <a:ea typeface="Open Sans"/>
                        <a:cs typeface="Open Sans"/>
                        <a:sym typeface="Open Sans"/>
                      </a:endParaRPr>
                    </a:p>
                  </a:txBody>
                  <a:tcPr marT="46500" marB="46500" marR="5100" marL="5100"/>
                </a:tc>
              </a:tr>
              <a:tr h="1416525">
                <a:tc>
                  <a:txBody>
                    <a:bodyPr/>
                    <a:lstStyle/>
                    <a:p>
                      <a:pPr indent="0" lvl="0" marL="0" marR="0" rtl="0" algn="l">
                        <a:lnSpc>
                          <a:spcPct val="115000"/>
                        </a:lnSpc>
                        <a:spcBef>
                          <a:spcPts val="0"/>
                        </a:spcBef>
                        <a:spcAft>
                          <a:spcPts val="0"/>
                        </a:spcAft>
                        <a:buNone/>
                      </a:pPr>
                      <a:r>
                        <a:rPr b="0" lang="en-US" sz="3200" u="none" cap="none" strike="noStrike">
                          <a:solidFill>
                            <a:schemeClr val="lt1"/>
                          </a:solidFill>
                          <a:latin typeface="Open Sans"/>
                          <a:ea typeface="Open Sans"/>
                          <a:cs typeface="Open Sans"/>
                          <a:sym typeface="Open Sans"/>
                        </a:rPr>
                        <a:t>An Efficient Android Malware Prediction Using Ensemble Machine Learning Algorithms (2023)</a:t>
                      </a:r>
                      <a:endParaRPr sz="4000" u="none" cap="none" strike="noStrike">
                        <a:latin typeface="Open Sans"/>
                        <a:ea typeface="Open Sans"/>
                        <a:cs typeface="Open Sans"/>
                        <a:sym typeface="Open Sans"/>
                      </a:endParaRPr>
                    </a:p>
                  </a:txBody>
                  <a:tcPr marT="46500" marB="46500" marR="5100" marL="5100" anchor="ctr">
                    <a:solidFill>
                      <a:srgbClr val="0A1828"/>
                    </a:solidFill>
                  </a:tcPr>
                </a:tc>
                <a:tc>
                  <a:txBody>
                    <a:bodyPr/>
                    <a:lstStyle/>
                    <a:p>
                      <a:pPr indent="-342900" lvl="0" marL="342900" marR="0" rtl="0" algn="l">
                        <a:lnSpc>
                          <a:spcPct val="115000"/>
                        </a:lnSpc>
                        <a:spcBef>
                          <a:spcPts val="0"/>
                        </a:spcBef>
                        <a:spcAft>
                          <a:spcPts val="0"/>
                        </a:spcAft>
                        <a:buClr>
                          <a:schemeClr val="dk1"/>
                        </a:buClr>
                        <a:buSzPts val="3200"/>
                        <a:buFont typeface="Open Sans"/>
                        <a:buChar char="-"/>
                      </a:pPr>
                      <a:r>
                        <a:rPr lang="en-US" sz="3200" u="none" cap="none" strike="noStrike">
                          <a:solidFill>
                            <a:schemeClr val="dk1"/>
                          </a:solidFill>
                          <a:latin typeface="Open Sans"/>
                          <a:ea typeface="Open Sans"/>
                          <a:cs typeface="Open Sans"/>
                          <a:sym typeface="Open Sans"/>
                        </a:rPr>
                        <a:t>Demonstrates that ensemble methods outperform individual classifiers, achieving over 99% accuracy on a dataset of 17,000 apps</a:t>
                      </a:r>
                      <a:endParaRPr sz="3200" u="none" cap="none" strike="noStrike">
                        <a:solidFill>
                          <a:schemeClr val="dk1"/>
                        </a:solidFill>
                        <a:latin typeface="Open Sans"/>
                        <a:ea typeface="Open Sans"/>
                        <a:cs typeface="Open Sans"/>
                        <a:sym typeface="Open Sans"/>
                      </a:endParaRPr>
                    </a:p>
                  </a:txBody>
                  <a:tcPr marT="46500" marB="46500" marR="5100" marL="5100"/>
                </a:tc>
              </a:tr>
              <a:tr h="1246000">
                <a:tc>
                  <a:txBody>
                    <a:bodyPr/>
                    <a:lstStyle/>
                    <a:p>
                      <a:pPr indent="0" lvl="0" marL="0" marR="0" rtl="0" algn="l">
                        <a:lnSpc>
                          <a:spcPct val="115000"/>
                        </a:lnSpc>
                        <a:spcBef>
                          <a:spcPts val="0"/>
                        </a:spcBef>
                        <a:spcAft>
                          <a:spcPts val="0"/>
                        </a:spcAft>
                        <a:buNone/>
                      </a:pPr>
                      <a:r>
                        <a:rPr b="0" lang="en-US" sz="3200" u="none" cap="none" strike="noStrike">
                          <a:solidFill>
                            <a:schemeClr val="lt1"/>
                          </a:solidFill>
                          <a:latin typeface="Open Sans"/>
                          <a:ea typeface="Open Sans"/>
                          <a:cs typeface="Open Sans"/>
                          <a:sym typeface="Open Sans"/>
                        </a:rPr>
                        <a:t>Dynamic Permissions-Based Detection</a:t>
                      </a:r>
                      <a:endParaRPr sz="4000" u="none" cap="none" strike="noStrike">
                        <a:latin typeface="Open Sans"/>
                        <a:ea typeface="Open Sans"/>
                        <a:cs typeface="Open Sans"/>
                        <a:sym typeface="Open Sans"/>
                      </a:endParaRPr>
                    </a:p>
                  </a:txBody>
                  <a:tcPr marT="46500" marB="46500" marR="5100" marL="5100" anchor="ctr">
                    <a:solidFill>
                      <a:srgbClr val="0A1828"/>
                    </a:solidFill>
                  </a:tcPr>
                </a:tc>
                <a:tc>
                  <a:txBody>
                    <a:bodyPr/>
                    <a:lstStyle/>
                    <a:p>
                      <a:pPr indent="0" lvl="0" marL="0" marR="0" rtl="0" algn="l">
                        <a:lnSpc>
                          <a:spcPct val="115000"/>
                        </a:lnSpc>
                        <a:spcBef>
                          <a:spcPts val="0"/>
                        </a:spcBef>
                        <a:spcAft>
                          <a:spcPts val="0"/>
                        </a:spcAft>
                        <a:buNone/>
                      </a:pPr>
                      <a:r>
                        <a:rPr lang="en-US" sz="3600" u="none" cap="none" strike="noStrike">
                          <a:latin typeface="Open Sans"/>
                          <a:ea typeface="Open Sans"/>
                          <a:cs typeface="Open Sans"/>
                          <a:sym typeface="Open Sans"/>
                        </a:rPr>
                        <a:t>- </a:t>
                      </a:r>
                      <a:r>
                        <a:rPr b="0" lang="en-US" sz="3200" u="none" cap="none" strike="noStrike">
                          <a:solidFill>
                            <a:schemeClr val="dk1"/>
                          </a:solidFill>
                          <a:latin typeface="Open Sans"/>
                          <a:ea typeface="Open Sans"/>
                          <a:cs typeface="Open Sans"/>
                          <a:sym typeface="Open Sans"/>
                        </a:rPr>
                        <a:t>Explores how dynamic analysis of app permissions can enhance detection accuracy.</a:t>
                      </a:r>
                      <a:endParaRPr sz="3600" u="none" cap="none" strike="noStrike">
                        <a:latin typeface="Open Sans"/>
                        <a:ea typeface="Open Sans"/>
                        <a:cs typeface="Open Sans"/>
                        <a:sym typeface="Open Sans"/>
                      </a:endParaRPr>
                    </a:p>
                  </a:txBody>
                  <a:tcPr marT="46500" marB="46500" marR="5100" marL="5100"/>
                </a:tc>
              </a:tr>
            </a:tbl>
          </a:graphicData>
        </a:graphic>
      </p:graphicFrame>
      <p:sp>
        <p:nvSpPr>
          <p:cNvPr id="206" name="Google Shape;206;p9"/>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208" name="Google Shape;208;p9"/>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CDC-720 Malware Detection and Analysis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212" name="Shape 212"/>
        <p:cNvGrpSpPr/>
        <p:nvPr/>
      </p:nvGrpSpPr>
      <p:grpSpPr>
        <a:xfrm>
          <a:off x="0" y="0"/>
          <a:ext cx="0" cy="0"/>
          <a:chOff x="0" y="0"/>
          <a:chExt cx="0" cy="0"/>
        </a:xfrm>
      </p:grpSpPr>
      <p:sp>
        <p:nvSpPr>
          <p:cNvPr id="213" name="Google Shape;213;p10"/>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txBox="1"/>
          <p:nvPr/>
        </p:nvSpPr>
        <p:spPr>
          <a:xfrm>
            <a:off x="1028700" y="3592705"/>
            <a:ext cx="16230600" cy="234474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7448">
                <a:solidFill>
                  <a:srgbClr val="F2F2F2"/>
                </a:solidFill>
                <a:latin typeface="Arial"/>
                <a:ea typeface="Arial"/>
                <a:cs typeface="Arial"/>
                <a:sym typeface="Arial"/>
              </a:rPr>
              <a:t>METHODOLOGY</a:t>
            </a:r>
            <a:endParaRPr/>
          </a:p>
        </p:txBody>
      </p:sp>
      <p:sp>
        <p:nvSpPr>
          <p:cNvPr id="215" name="Google Shape;215;p10"/>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216" name="Google Shape;216;p10"/>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11"/>
          <p:cNvPicPr preferRelativeResize="0"/>
          <p:nvPr/>
        </p:nvPicPr>
        <p:blipFill rotWithShape="1">
          <a:blip r:embed="rId3">
            <a:alphaModFix/>
          </a:blip>
          <a:srcRect b="0" l="2039" r="2039" t="0"/>
          <a:stretch/>
        </p:blipFill>
        <p:spPr>
          <a:xfrm>
            <a:off x="7543800" y="1689154"/>
            <a:ext cx="10363200" cy="7950146"/>
          </a:xfrm>
          <a:prstGeom prst="rect">
            <a:avLst/>
          </a:prstGeom>
          <a:noFill/>
          <a:ln>
            <a:noFill/>
          </a:ln>
        </p:spPr>
      </p:pic>
      <p:sp>
        <p:nvSpPr>
          <p:cNvPr id="222" name="Google Shape;222;p11"/>
          <p:cNvSpPr txBox="1"/>
          <p:nvPr/>
        </p:nvSpPr>
        <p:spPr>
          <a:xfrm>
            <a:off x="838200" y="2740462"/>
            <a:ext cx="11353800" cy="5632311"/>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C00000"/>
              </a:buClr>
              <a:buSzPts val="3600"/>
              <a:buFont typeface="Noto Sans Symbols"/>
              <a:buChar char="❑"/>
            </a:pPr>
            <a:r>
              <a:rPr b="1" lang="en-US" sz="3600">
                <a:solidFill>
                  <a:srgbClr val="C00000"/>
                </a:solidFill>
                <a:latin typeface="Open Sans"/>
                <a:ea typeface="Open Sans"/>
                <a:cs typeface="Open Sans"/>
                <a:sym typeface="Open Sans"/>
              </a:rPr>
              <a:t>Name: </a:t>
            </a:r>
            <a:r>
              <a:rPr lang="en-US" sz="3600">
                <a:solidFill>
                  <a:srgbClr val="0A1828"/>
                </a:solidFill>
                <a:latin typeface="Open Sans"/>
                <a:ea typeface="Open Sans"/>
                <a:cs typeface="Open Sans"/>
                <a:sym typeface="Open Sans"/>
              </a:rPr>
              <a:t>Android_Permission.csv</a:t>
            </a:r>
            <a:endParaRPr/>
          </a:p>
          <a:p>
            <a:pPr indent="-457200" lvl="0" marL="457200" marR="0" rtl="0" algn="l">
              <a:spcBef>
                <a:spcPts val="0"/>
              </a:spcBef>
              <a:spcAft>
                <a:spcPts val="0"/>
              </a:spcAft>
              <a:buClr>
                <a:srgbClr val="C00000"/>
              </a:buClr>
              <a:buSzPts val="3600"/>
              <a:buFont typeface="Noto Sans Symbols"/>
              <a:buChar char="❑"/>
            </a:pPr>
            <a:r>
              <a:rPr b="1" lang="en-US" sz="3600">
                <a:solidFill>
                  <a:srgbClr val="C00000"/>
                </a:solidFill>
                <a:latin typeface="Open Sans"/>
                <a:ea typeface="Open Sans"/>
                <a:cs typeface="Open Sans"/>
                <a:sym typeface="Open Sans"/>
              </a:rPr>
              <a:t>Source:  </a:t>
            </a:r>
            <a:r>
              <a:rPr lang="en-US" sz="3600">
                <a:solidFill>
                  <a:srgbClr val="0A1828"/>
                </a:solidFill>
                <a:latin typeface="Open Sans"/>
                <a:ea typeface="Open Sans"/>
                <a:cs typeface="Open Sans"/>
                <a:sym typeface="Open Sans"/>
              </a:rPr>
              <a:t>Kaggle</a:t>
            </a:r>
            <a:endParaRPr/>
          </a:p>
          <a:p>
            <a:pPr indent="-457200" lvl="0" marL="457200" marR="0" rtl="0" algn="l">
              <a:spcBef>
                <a:spcPts val="0"/>
              </a:spcBef>
              <a:spcAft>
                <a:spcPts val="0"/>
              </a:spcAft>
              <a:buClr>
                <a:srgbClr val="C00000"/>
              </a:buClr>
              <a:buSzPts val="3600"/>
              <a:buFont typeface="Noto Sans Symbols"/>
              <a:buChar char="❑"/>
            </a:pPr>
            <a:r>
              <a:rPr b="1" lang="en-US" sz="3600">
                <a:solidFill>
                  <a:srgbClr val="C00000"/>
                </a:solidFill>
                <a:latin typeface="Open Sans"/>
                <a:ea typeface="Open Sans"/>
                <a:cs typeface="Open Sans"/>
                <a:sym typeface="Open Sans"/>
              </a:rPr>
              <a:t>Volume: </a:t>
            </a:r>
            <a:r>
              <a:rPr lang="en-US" sz="3600">
                <a:solidFill>
                  <a:srgbClr val="0A1828"/>
                </a:solidFill>
                <a:latin typeface="Open Sans"/>
                <a:ea typeface="Open Sans"/>
                <a:cs typeface="Open Sans"/>
                <a:sym typeface="Open Sans"/>
              </a:rPr>
              <a:t>C</a:t>
            </a:r>
            <a:r>
              <a:rPr b="0" i="0" lang="en-US" sz="3600">
                <a:solidFill>
                  <a:srgbClr val="0A1828"/>
                </a:solidFill>
                <a:latin typeface="Open Sans"/>
                <a:ea typeface="Open Sans"/>
                <a:cs typeface="Open Sans"/>
                <a:sym typeface="Open Sans"/>
              </a:rPr>
              <a:t>omprising 30k apps with 183 features.</a:t>
            </a:r>
            <a:endParaRPr/>
          </a:p>
          <a:p>
            <a:pPr indent="-457200" lvl="0" marL="457200" marR="0" rtl="0" algn="l">
              <a:spcBef>
                <a:spcPts val="0"/>
              </a:spcBef>
              <a:spcAft>
                <a:spcPts val="0"/>
              </a:spcAft>
              <a:buClr>
                <a:srgbClr val="C00000"/>
              </a:buClr>
              <a:buSzPts val="3600"/>
              <a:buFont typeface="Noto Sans Symbols"/>
              <a:buChar char="❑"/>
            </a:pPr>
            <a:r>
              <a:rPr b="1" lang="en-US" sz="3600">
                <a:solidFill>
                  <a:srgbClr val="C00000"/>
                </a:solidFill>
                <a:latin typeface="Open Sans"/>
                <a:ea typeface="Open Sans"/>
                <a:cs typeface="Open Sans"/>
                <a:sym typeface="Open Sans"/>
              </a:rPr>
              <a:t>Classification: </a:t>
            </a:r>
            <a:r>
              <a:rPr lang="en-US" sz="3600">
                <a:solidFill>
                  <a:srgbClr val="0A1828"/>
                </a:solidFill>
                <a:latin typeface="Open Sans"/>
                <a:ea typeface="Open Sans"/>
                <a:cs typeface="Open Sans"/>
                <a:sym typeface="Open Sans"/>
              </a:rPr>
              <a:t>Binary target</a:t>
            </a:r>
            <a:endParaRPr/>
          </a:p>
          <a:p>
            <a:pPr indent="0" lvl="0" marL="0" marR="0" rtl="0" algn="l">
              <a:spcBef>
                <a:spcPts val="0"/>
              </a:spcBef>
              <a:spcAft>
                <a:spcPts val="0"/>
              </a:spcAft>
              <a:buNone/>
            </a:pPr>
            <a:r>
              <a:rPr lang="en-US" sz="3600">
                <a:solidFill>
                  <a:srgbClr val="0A1828"/>
                </a:solidFill>
                <a:latin typeface="Open Sans"/>
                <a:ea typeface="Open Sans"/>
                <a:cs typeface="Open Sans"/>
                <a:sym typeface="Open Sans"/>
              </a:rPr>
              <a:t>benign (0) or malicious (1).</a:t>
            </a:r>
            <a:endParaRPr/>
          </a:p>
          <a:p>
            <a:pPr indent="0" lvl="0" marL="0" marR="0" rtl="0" algn="l">
              <a:spcBef>
                <a:spcPts val="0"/>
              </a:spcBef>
              <a:spcAft>
                <a:spcPts val="0"/>
              </a:spcAft>
              <a:buNone/>
            </a:pPr>
            <a:r>
              <a:rPr lang="en-US" sz="3600">
                <a:solidFill>
                  <a:srgbClr val="0A1828"/>
                </a:solidFill>
                <a:latin typeface="Open Sans"/>
                <a:ea typeface="Open Sans"/>
                <a:cs typeface="Open Sans"/>
                <a:sym typeface="Open Sans"/>
              </a:rPr>
              <a:t>There are 29,999 records with 20,000 </a:t>
            </a:r>
            <a:endParaRPr/>
          </a:p>
          <a:p>
            <a:pPr indent="0" lvl="0" marL="0" marR="0" rtl="0" algn="l">
              <a:spcBef>
                <a:spcPts val="0"/>
              </a:spcBef>
              <a:spcAft>
                <a:spcPts val="0"/>
              </a:spcAft>
              <a:buNone/>
            </a:pPr>
            <a:r>
              <a:rPr lang="en-US" sz="3600">
                <a:solidFill>
                  <a:srgbClr val="0A1828"/>
                </a:solidFill>
                <a:latin typeface="Open Sans"/>
                <a:ea typeface="Open Sans"/>
                <a:cs typeface="Open Sans"/>
                <a:sym typeface="Open Sans"/>
              </a:rPr>
              <a:t>malwares and 9,999 benign apps.</a:t>
            </a:r>
            <a:endParaRPr/>
          </a:p>
          <a:p>
            <a:pPr indent="-457200" lvl="0" marL="457200" marR="0" rtl="0" algn="l">
              <a:spcBef>
                <a:spcPts val="0"/>
              </a:spcBef>
              <a:spcAft>
                <a:spcPts val="0"/>
              </a:spcAft>
              <a:buClr>
                <a:srgbClr val="C00000"/>
              </a:buClr>
              <a:buSzPts val="3600"/>
              <a:buFont typeface="Noto Sans Symbols"/>
              <a:buChar char="❑"/>
            </a:pPr>
            <a:r>
              <a:rPr b="1" lang="en-US" sz="3600">
                <a:solidFill>
                  <a:srgbClr val="C00000"/>
                </a:solidFill>
                <a:latin typeface="Open Sans"/>
                <a:ea typeface="Open Sans"/>
                <a:cs typeface="Open Sans"/>
                <a:sym typeface="Open Sans"/>
              </a:rPr>
              <a:t>Data Partitioning:</a:t>
            </a:r>
            <a:endParaRPr b="1" sz="3600">
              <a:solidFill>
                <a:srgbClr val="0A1828"/>
              </a:solidFill>
              <a:latin typeface="Open Sans"/>
              <a:ea typeface="Open Sans"/>
              <a:cs typeface="Open Sans"/>
              <a:sym typeface="Open Sans"/>
            </a:endParaRPr>
          </a:p>
          <a:p>
            <a:pPr indent="-457200" lvl="1" marL="914400" marR="0" rtl="0" algn="l">
              <a:spcBef>
                <a:spcPts val="0"/>
              </a:spcBef>
              <a:spcAft>
                <a:spcPts val="0"/>
              </a:spcAft>
              <a:buClr>
                <a:srgbClr val="0A1828"/>
              </a:buClr>
              <a:buSzPts val="3600"/>
              <a:buFont typeface="Arial"/>
              <a:buChar char="•"/>
            </a:pPr>
            <a:r>
              <a:rPr b="0" i="0" lang="en-US" sz="3600" u="none" cap="none" strike="noStrike">
                <a:solidFill>
                  <a:srgbClr val="0A1828"/>
                </a:solidFill>
                <a:latin typeface="Open Sans"/>
                <a:ea typeface="Open Sans"/>
                <a:cs typeface="Open Sans"/>
                <a:sym typeface="Open Sans"/>
              </a:rPr>
              <a:t>Training Set: 80%</a:t>
            </a:r>
            <a:endParaRPr/>
          </a:p>
          <a:p>
            <a:pPr indent="-457200" lvl="1" marL="914400" marR="0" rtl="0" algn="l">
              <a:spcBef>
                <a:spcPts val="0"/>
              </a:spcBef>
              <a:spcAft>
                <a:spcPts val="0"/>
              </a:spcAft>
              <a:buClr>
                <a:srgbClr val="0A1828"/>
              </a:buClr>
              <a:buSzPts val="3600"/>
              <a:buFont typeface="Arial"/>
              <a:buChar char="•"/>
            </a:pPr>
            <a:r>
              <a:rPr b="0" i="0" lang="en-US" sz="3600" u="none" cap="none" strike="noStrike">
                <a:solidFill>
                  <a:srgbClr val="0A1828"/>
                </a:solidFill>
                <a:latin typeface="Open Sans"/>
                <a:ea typeface="Open Sans"/>
                <a:cs typeface="Open Sans"/>
                <a:sym typeface="Open Sans"/>
              </a:rPr>
              <a:t>Testing Set: 20%</a:t>
            </a:r>
            <a:endParaRPr/>
          </a:p>
        </p:txBody>
      </p:sp>
      <p:sp>
        <p:nvSpPr>
          <p:cNvPr id="223" name="Google Shape;223;p11"/>
          <p:cNvSpPr txBox="1"/>
          <p:nvPr/>
        </p:nvSpPr>
        <p:spPr>
          <a:xfrm>
            <a:off x="838200" y="1181100"/>
            <a:ext cx="929639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DATASET</a:t>
            </a:r>
            <a:endParaRPr/>
          </a:p>
        </p:txBody>
      </p:sp>
      <p:sp>
        <p:nvSpPr>
          <p:cNvPr id="224" name="Google Shape;224;p11"/>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225" name="Google Shape;225;p11"/>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CDC-720 Malware Detection and Analysis</a:t>
            </a:r>
            <a:endParaRPr/>
          </a:p>
        </p:txBody>
      </p:sp>
      <p:sp>
        <p:nvSpPr>
          <p:cNvPr id="226" name="Google Shape;226;p11"/>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2"/>
          <p:cNvSpPr/>
          <p:nvPr/>
        </p:nvSpPr>
        <p:spPr>
          <a:xfrm>
            <a:off x="7758992" y="3137249"/>
            <a:ext cx="3442408" cy="708902"/>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2"/>
          <p:cNvSpPr/>
          <p:nvPr/>
        </p:nvSpPr>
        <p:spPr>
          <a:xfrm>
            <a:off x="7966936" y="4129798"/>
            <a:ext cx="2978037" cy="708902"/>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2">
            <a:hlinkClick action="ppaction://hlinksldjump" r:id="rId3"/>
          </p:cNvPr>
          <p:cNvSpPr/>
          <p:nvPr/>
        </p:nvSpPr>
        <p:spPr>
          <a:xfrm>
            <a:off x="7924800" y="1954845"/>
            <a:ext cx="2912672" cy="708902"/>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2"/>
          <p:cNvSpPr/>
          <p:nvPr/>
        </p:nvSpPr>
        <p:spPr>
          <a:xfrm>
            <a:off x="7758992" y="373444"/>
            <a:ext cx="3358365" cy="1224507"/>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2"/>
          <p:cNvSpPr/>
          <p:nvPr/>
        </p:nvSpPr>
        <p:spPr>
          <a:xfrm>
            <a:off x="7966936" y="6751973"/>
            <a:ext cx="2876471" cy="708902"/>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2"/>
          <p:cNvSpPr/>
          <p:nvPr/>
        </p:nvSpPr>
        <p:spPr>
          <a:xfrm>
            <a:off x="12270797" y="7095255"/>
            <a:ext cx="5732840" cy="2467845"/>
          </a:xfrm>
          <a:prstGeom prst="rect">
            <a:avLst/>
          </a:prstGeom>
          <a:solidFill>
            <a:srgbClr val="0A1828"/>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2"/>
          <p:cNvSpPr/>
          <p:nvPr/>
        </p:nvSpPr>
        <p:spPr>
          <a:xfrm>
            <a:off x="1119559" y="2438768"/>
            <a:ext cx="2564739" cy="7059578"/>
          </a:xfrm>
          <a:prstGeom prst="rect">
            <a:avLst/>
          </a:prstGeom>
          <a:solidFill>
            <a:srgbClr val="0A1828"/>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12"/>
          <p:cNvSpPr/>
          <p:nvPr/>
        </p:nvSpPr>
        <p:spPr>
          <a:xfrm>
            <a:off x="7797866" y="472589"/>
            <a:ext cx="3242882" cy="967613"/>
          </a:xfrm>
          <a:prstGeom prst="rect">
            <a:avLst/>
          </a:prstGeom>
          <a:solidFill>
            <a:srgbClr val="F2F2F2"/>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12"/>
          <p:cNvSpPr/>
          <p:nvPr/>
        </p:nvSpPr>
        <p:spPr>
          <a:xfrm>
            <a:off x="8001000" y="2019300"/>
            <a:ext cx="2737345" cy="594576"/>
          </a:xfrm>
          <a:prstGeom prst="rect">
            <a:avLst/>
          </a:prstGeom>
          <a:solidFill>
            <a:srgbClr val="F2F2F2"/>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12">
            <a:hlinkClick action="ppaction://hlinksldjump" r:id="rId4"/>
          </p:cNvPr>
          <p:cNvSpPr/>
          <p:nvPr/>
        </p:nvSpPr>
        <p:spPr>
          <a:xfrm>
            <a:off x="8153400" y="6813072"/>
            <a:ext cx="2542011" cy="593809"/>
          </a:xfrm>
          <a:prstGeom prst="rect">
            <a:avLst/>
          </a:prstGeom>
          <a:solidFill>
            <a:srgbClr val="F2F2F2"/>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12"/>
          <p:cNvSpPr/>
          <p:nvPr/>
        </p:nvSpPr>
        <p:spPr>
          <a:xfrm>
            <a:off x="8078291" y="4173197"/>
            <a:ext cx="2737345" cy="594576"/>
          </a:xfrm>
          <a:prstGeom prst="rect">
            <a:avLst/>
          </a:prstGeom>
          <a:solidFill>
            <a:srgbClr val="F2F2F2"/>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12"/>
          <p:cNvSpPr txBox="1"/>
          <p:nvPr/>
        </p:nvSpPr>
        <p:spPr>
          <a:xfrm rot="-5400000">
            <a:off x="13458241" y="2229862"/>
            <a:ext cx="8316921" cy="2409397"/>
          </a:xfrm>
          <a:prstGeom prst="rect">
            <a:avLst/>
          </a:prstGeom>
          <a:noFill/>
          <a:ln>
            <a:noFill/>
          </a:ln>
        </p:spPr>
        <p:txBody>
          <a:bodyPr anchorCtr="0" anchor="t" bIns="68575" lIns="137150" spcFirstLastPara="1" rIns="137150" wrap="square" tIns="68575">
            <a:normAutofit/>
          </a:bodyPr>
          <a:lstStyle/>
          <a:p>
            <a:pPr indent="0" lvl="0" marL="0" marR="0" rtl="0" algn="ctr">
              <a:lnSpc>
                <a:spcPct val="90000"/>
              </a:lnSpc>
              <a:spcBef>
                <a:spcPts val="0"/>
              </a:spcBef>
              <a:spcAft>
                <a:spcPts val="0"/>
              </a:spcAft>
              <a:buClr>
                <a:srgbClr val="0A1828"/>
              </a:buClr>
              <a:buSzPts val="6600"/>
              <a:buFont typeface="Arial"/>
              <a:buNone/>
            </a:pPr>
            <a:r>
              <a:rPr b="1" lang="en-US" sz="6600">
                <a:solidFill>
                  <a:srgbClr val="0A1828"/>
                </a:solidFill>
                <a:latin typeface="Arial"/>
                <a:ea typeface="Arial"/>
                <a:cs typeface="Arial"/>
                <a:sym typeface="Arial"/>
              </a:rPr>
              <a:t>METHODOLOGY DIAGRAM</a:t>
            </a:r>
            <a:endParaRPr/>
          </a:p>
        </p:txBody>
      </p:sp>
      <p:sp>
        <p:nvSpPr>
          <p:cNvPr id="244" name="Google Shape;244;p12"/>
          <p:cNvSpPr/>
          <p:nvPr/>
        </p:nvSpPr>
        <p:spPr>
          <a:xfrm>
            <a:off x="6858000" y="5631585"/>
            <a:ext cx="2356193" cy="540957"/>
          </a:xfrm>
          <a:prstGeom prst="rect">
            <a:avLst/>
          </a:prstGeom>
          <a:solidFill>
            <a:srgbClr val="F2F2F2"/>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Open Sans"/>
              <a:ea typeface="Open Sans"/>
              <a:cs typeface="Open Sans"/>
              <a:sym typeface="Open Sans"/>
            </a:endParaRPr>
          </a:p>
        </p:txBody>
      </p:sp>
      <p:sp>
        <p:nvSpPr>
          <p:cNvPr id="245" name="Google Shape;245;p12"/>
          <p:cNvSpPr txBox="1"/>
          <p:nvPr/>
        </p:nvSpPr>
        <p:spPr>
          <a:xfrm>
            <a:off x="7602346" y="495300"/>
            <a:ext cx="3811522" cy="74017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Open Sans"/>
              <a:buNone/>
            </a:pPr>
            <a:r>
              <a:rPr b="1" i="0" lang="en-US" sz="2800" u="none" cap="none" strike="noStrike">
                <a:solidFill>
                  <a:schemeClr val="dk1"/>
                </a:solidFill>
                <a:latin typeface="Open Sans"/>
                <a:ea typeface="Open Sans"/>
                <a:cs typeface="Open Sans"/>
                <a:sym typeface="Open Sans"/>
              </a:rPr>
              <a:t>Android Malware Dataset</a:t>
            </a:r>
            <a:endParaRPr b="0" i="0" sz="3600" u="none" cap="none" strike="noStrike">
              <a:solidFill>
                <a:schemeClr val="dk1"/>
              </a:solidFill>
              <a:latin typeface="Open Sans"/>
              <a:ea typeface="Open Sans"/>
              <a:cs typeface="Open Sans"/>
              <a:sym typeface="Open Sans"/>
            </a:endParaRPr>
          </a:p>
        </p:txBody>
      </p:sp>
      <p:sp>
        <p:nvSpPr>
          <p:cNvPr id="246" name="Google Shape;246;p12"/>
          <p:cNvSpPr txBox="1"/>
          <p:nvPr/>
        </p:nvSpPr>
        <p:spPr>
          <a:xfrm>
            <a:off x="7937581" y="2088874"/>
            <a:ext cx="2949768" cy="38039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Open Sans"/>
              <a:buNone/>
            </a:pPr>
            <a:r>
              <a:rPr b="1" lang="en-US" sz="2400">
                <a:solidFill>
                  <a:schemeClr val="dk1"/>
                </a:solidFill>
                <a:latin typeface="Open Sans"/>
                <a:ea typeface="Open Sans"/>
                <a:cs typeface="Open Sans"/>
                <a:sym typeface="Open Sans"/>
              </a:rPr>
              <a:t>Data preprocessing</a:t>
            </a:r>
            <a:endParaRPr b="0" i="0" sz="3200" u="none" cap="none" strike="noStrike">
              <a:solidFill>
                <a:schemeClr val="dk1"/>
              </a:solidFill>
              <a:latin typeface="Open Sans"/>
              <a:ea typeface="Open Sans"/>
              <a:cs typeface="Open Sans"/>
              <a:sym typeface="Open Sans"/>
            </a:endParaRPr>
          </a:p>
        </p:txBody>
      </p:sp>
      <p:sp>
        <p:nvSpPr>
          <p:cNvPr id="247" name="Google Shape;247;p12"/>
          <p:cNvSpPr/>
          <p:nvPr/>
        </p:nvSpPr>
        <p:spPr>
          <a:xfrm>
            <a:off x="9531007" y="5636679"/>
            <a:ext cx="2356193" cy="540957"/>
          </a:xfrm>
          <a:prstGeom prst="rect">
            <a:avLst/>
          </a:prstGeom>
          <a:solidFill>
            <a:srgbClr val="F2F2F2"/>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Open Sans"/>
              <a:ea typeface="Open Sans"/>
              <a:cs typeface="Open Sans"/>
              <a:sym typeface="Open Sans"/>
            </a:endParaRPr>
          </a:p>
        </p:txBody>
      </p:sp>
      <p:sp>
        <p:nvSpPr>
          <p:cNvPr id="248" name="Google Shape;248;p12"/>
          <p:cNvSpPr txBox="1"/>
          <p:nvPr/>
        </p:nvSpPr>
        <p:spPr>
          <a:xfrm>
            <a:off x="6870806" y="5663475"/>
            <a:ext cx="2117809" cy="60073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600"/>
              <a:buFont typeface="Open Sans"/>
              <a:buNone/>
            </a:pPr>
            <a:r>
              <a:rPr b="1" i="0" lang="en-US" sz="2600" u="none" cap="none" strike="noStrike">
                <a:solidFill>
                  <a:schemeClr val="dk1"/>
                </a:solidFill>
                <a:latin typeface="Open Sans"/>
                <a:ea typeface="Open Sans"/>
                <a:cs typeface="Open Sans"/>
                <a:sym typeface="Open Sans"/>
              </a:rPr>
              <a:t>Training Set</a:t>
            </a:r>
            <a:endParaRPr b="0" i="0" sz="2600" u="none" cap="none" strike="noStrike">
              <a:solidFill>
                <a:schemeClr val="dk1"/>
              </a:solidFill>
              <a:latin typeface="Open Sans"/>
              <a:ea typeface="Open Sans"/>
              <a:cs typeface="Open Sans"/>
              <a:sym typeface="Open Sans"/>
            </a:endParaRPr>
          </a:p>
        </p:txBody>
      </p:sp>
      <p:sp>
        <p:nvSpPr>
          <p:cNvPr id="249" name="Google Shape;249;p12"/>
          <p:cNvSpPr txBox="1"/>
          <p:nvPr/>
        </p:nvSpPr>
        <p:spPr>
          <a:xfrm>
            <a:off x="9642300" y="5694864"/>
            <a:ext cx="2221060" cy="300608"/>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600"/>
              <a:buFont typeface="Open Sans"/>
              <a:buNone/>
            </a:pPr>
            <a:r>
              <a:rPr b="1" i="0" lang="en-US" sz="2600" u="none" cap="none" strike="noStrike">
                <a:solidFill>
                  <a:schemeClr val="dk1"/>
                </a:solidFill>
                <a:latin typeface="Open Sans"/>
                <a:ea typeface="Open Sans"/>
                <a:cs typeface="Open Sans"/>
                <a:sym typeface="Open Sans"/>
              </a:rPr>
              <a:t>Testing Set</a:t>
            </a:r>
            <a:endParaRPr b="0" i="0" sz="2600" u="none" cap="none" strike="noStrike">
              <a:solidFill>
                <a:schemeClr val="dk1"/>
              </a:solidFill>
              <a:latin typeface="Open Sans"/>
              <a:ea typeface="Open Sans"/>
              <a:cs typeface="Open Sans"/>
              <a:sym typeface="Open Sans"/>
            </a:endParaRPr>
          </a:p>
        </p:txBody>
      </p:sp>
      <p:sp>
        <p:nvSpPr>
          <p:cNvPr id="250" name="Google Shape;250;p12"/>
          <p:cNvSpPr/>
          <p:nvPr/>
        </p:nvSpPr>
        <p:spPr>
          <a:xfrm>
            <a:off x="6740062" y="5525184"/>
            <a:ext cx="5261661" cy="740173"/>
          </a:xfrm>
          <a:prstGeom prst="roundRect">
            <a:avLst>
              <a:gd fmla="val 16667" name="adj"/>
            </a:avLst>
          </a:prstGeom>
          <a:noFill/>
          <a:ln cap="flat" cmpd="sng" w="2857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Open Sans"/>
              <a:ea typeface="Open Sans"/>
              <a:cs typeface="Open Sans"/>
              <a:sym typeface="Open Sans"/>
            </a:endParaRPr>
          </a:p>
        </p:txBody>
      </p:sp>
      <p:sp>
        <p:nvSpPr>
          <p:cNvPr id="251" name="Google Shape;251;p12"/>
          <p:cNvSpPr/>
          <p:nvPr/>
        </p:nvSpPr>
        <p:spPr>
          <a:xfrm>
            <a:off x="8229600" y="7930237"/>
            <a:ext cx="2350649" cy="708902"/>
          </a:xfrm>
          <a:prstGeom prst="rect">
            <a:avLst/>
          </a:prstGeom>
          <a:solidFill>
            <a:srgbClr val="0A1828"/>
          </a:solidFill>
          <a:ln cap="flat" cmpd="sng" w="1905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12"/>
          <p:cNvSpPr txBox="1"/>
          <p:nvPr/>
        </p:nvSpPr>
        <p:spPr>
          <a:xfrm>
            <a:off x="8334273" y="8006436"/>
            <a:ext cx="2141302" cy="585413"/>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Open Sans"/>
              <a:buNone/>
            </a:pPr>
            <a:r>
              <a:rPr b="1" lang="en-US" sz="2800">
                <a:solidFill>
                  <a:schemeClr val="dk1"/>
                </a:solidFill>
                <a:latin typeface="Open Sans"/>
                <a:ea typeface="Open Sans"/>
                <a:cs typeface="Open Sans"/>
                <a:sym typeface="Open Sans"/>
              </a:rPr>
              <a:t>Prediction</a:t>
            </a:r>
            <a:endParaRPr i="0" sz="2800" u="none" cap="none" strike="noStrike">
              <a:solidFill>
                <a:schemeClr val="dk1"/>
              </a:solidFill>
              <a:latin typeface="Open Sans"/>
              <a:ea typeface="Open Sans"/>
              <a:cs typeface="Open Sans"/>
              <a:sym typeface="Open Sans"/>
            </a:endParaRPr>
          </a:p>
        </p:txBody>
      </p:sp>
      <p:cxnSp>
        <p:nvCxnSpPr>
          <p:cNvPr id="253" name="Google Shape;253;p12"/>
          <p:cNvCxnSpPr/>
          <p:nvPr/>
        </p:nvCxnSpPr>
        <p:spPr>
          <a:xfrm>
            <a:off x="7543800" y="5263217"/>
            <a:ext cx="3673956" cy="2398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cxnSp>
        <p:nvCxnSpPr>
          <p:cNvPr id="254" name="Google Shape;254;p12"/>
          <p:cNvCxnSpPr/>
          <p:nvPr/>
        </p:nvCxnSpPr>
        <p:spPr>
          <a:xfrm>
            <a:off x="7543800" y="5277853"/>
            <a:ext cx="0" cy="260622"/>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55" name="Google Shape;255;p12"/>
          <p:cNvCxnSpPr/>
          <p:nvPr/>
        </p:nvCxnSpPr>
        <p:spPr>
          <a:xfrm>
            <a:off x="11201400" y="5277853"/>
            <a:ext cx="0" cy="260622"/>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sp>
        <p:nvSpPr>
          <p:cNvPr id="256" name="Google Shape;256;p12"/>
          <p:cNvSpPr txBox="1"/>
          <p:nvPr/>
        </p:nvSpPr>
        <p:spPr>
          <a:xfrm>
            <a:off x="579595" y="1705971"/>
            <a:ext cx="3497301" cy="554593"/>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en-US" sz="3200">
                <a:solidFill>
                  <a:schemeClr val="dk1"/>
                </a:solidFill>
                <a:latin typeface="Open Sans"/>
                <a:ea typeface="Open Sans"/>
                <a:cs typeface="Open Sans"/>
                <a:sym typeface="Open Sans"/>
              </a:rPr>
              <a:t>Collection of APKs</a:t>
            </a:r>
            <a:endParaRPr sz="3200">
              <a:solidFill>
                <a:schemeClr val="dk1"/>
              </a:solidFill>
              <a:latin typeface="Open Sans"/>
              <a:ea typeface="Open Sans"/>
              <a:cs typeface="Open Sans"/>
              <a:sym typeface="Open Sans"/>
            </a:endParaRPr>
          </a:p>
        </p:txBody>
      </p:sp>
      <p:sp>
        <p:nvSpPr>
          <p:cNvPr id="257" name="Google Shape;257;p12"/>
          <p:cNvSpPr/>
          <p:nvPr/>
        </p:nvSpPr>
        <p:spPr>
          <a:xfrm>
            <a:off x="1295400" y="2714770"/>
            <a:ext cx="2239689" cy="432269"/>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APK Mirror</a:t>
            </a:r>
            <a:endParaRPr sz="2400">
              <a:solidFill>
                <a:schemeClr val="lt1"/>
              </a:solidFill>
              <a:latin typeface="Open Sans"/>
              <a:ea typeface="Open Sans"/>
              <a:cs typeface="Open Sans"/>
              <a:sym typeface="Open Sans"/>
            </a:endParaRPr>
          </a:p>
        </p:txBody>
      </p:sp>
      <p:sp>
        <p:nvSpPr>
          <p:cNvPr id="258" name="Google Shape;258;p12"/>
          <p:cNvSpPr/>
          <p:nvPr/>
        </p:nvSpPr>
        <p:spPr>
          <a:xfrm>
            <a:off x="1295400" y="3412032"/>
            <a:ext cx="2239689" cy="497095"/>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APK Pure</a:t>
            </a:r>
            <a:endParaRPr sz="2400">
              <a:solidFill>
                <a:schemeClr val="lt1"/>
              </a:solidFill>
              <a:latin typeface="Open Sans"/>
              <a:ea typeface="Open Sans"/>
              <a:cs typeface="Open Sans"/>
              <a:sym typeface="Open Sans"/>
            </a:endParaRPr>
          </a:p>
        </p:txBody>
      </p:sp>
      <p:sp>
        <p:nvSpPr>
          <p:cNvPr id="259" name="Google Shape;259;p12"/>
          <p:cNvSpPr/>
          <p:nvPr/>
        </p:nvSpPr>
        <p:spPr>
          <a:xfrm>
            <a:off x="1295400" y="4158585"/>
            <a:ext cx="2239689" cy="1025475"/>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Google Play Store</a:t>
            </a:r>
            <a:endParaRPr sz="2400">
              <a:solidFill>
                <a:schemeClr val="lt1"/>
              </a:solidFill>
              <a:latin typeface="Open Sans"/>
              <a:ea typeface="Open Sans"/>
              <a:cs typeface="Open Sans"/>
              <a:sym typeface="Open Sans"/>
            </a:endParaRPr>
          </a:p>
        </p:txBody>
      </p:sp>
      <p:sp>
        <p:nvSpPr>
          <p:cNvPr id="260" name="Google Shape;260;p12"/>
          <p:cNvSpPr/>
          <p:nvPr/>
        </p:nvSpPr>
        <p:spPr>
          <a:xfrm>
            <a:off x="1295400" y="5361973"/>
            <a:ext cx="2255313" cy="737072"/>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F-Droid</a:t>
            </a:r>
            <a:endParaRPr sz="2400">
              <a:solidFill>
                <a:schemeClr val="lt1"/>
              </a:solidFill>
              <a:latin typeface="Open Sans"/>
              <a:ea typeface="Open Sans"/>
              <a:cs typeface="Open Sans"/>
              <a:sym typeface="Open Sans"/>
            </a:endParaRPr>
          </a:p>
        </p:txBody>
      </p:sp>
      <p:sp>
        <p:nvSpPr>
          <p:cNvPr id="261" name="Google Shape;261;p12"/>
          <p:cNvSpPr/>
          <p:nvPr/>
        </p:nvSpPr>
        <p:spPr>
          <a:xfrm>
            <a:off x="1295400" y="6286500"/>
            <a:ext cx="2239689" cy="601823"/>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latin typeface="Open Sans"/>
                <a:ea typeface="Open Sans"/>
                <a:cs typeface="Open Sans"/>
                <a:sym typeface="Open Sans"/>
              </a:rPr>
              <a:t>Uptodown</a:t>
            </a:r>
            <a:endParaRPr sz="2400">
              <a:solidFill>
                <a:schemeClr val="lt1"/>
              </a:solidFill>
              <a:latin typeface="Open Sans"/>
              <a:ea typeface="Open Sans"/>
              <a:cs typeface="Open Sans"/>
              <a:sym typeface="Open Sans"/>
            </a:endParaRPr>
          </a:p>
        </p:txBody>
      </p:sp>
      <p:sp>
        <p:nvSpPr>
          <p:cNvPr id="262" name="Google Shape;262;p12"/>
          <p:cNvSpPr/>
          <p:nvPr/>
        </p:nvSpPr>
        <p:spPr>
          <a:xfrm>
            <a:off x="1278366" y="8563952"/>
            <a:ext cx="2239689" cy="737072"/>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Aptoide</a:t>
            </a:r>
            <a:endParaRPr sz="2400">
              <a:solidFill>
                <a:schemeClr val="lt1"/>
              </a:solidFill>
              <a:latin typeface="Open Sans"/>
              <a:ea typeface="Open Sans"/>
              <a:cs typeface="Open Sans"/>
              <a:sym typeface="Open Sans"/>
            </a:endParaRPr>
          </a:p>
        </p:txBody>
      </p:sp>
      <p:sp>
        <p:nvSpPr>
          <p:cNvPr id="263" name="Google Shape;263;p12"/>
          <p:cNvSpPr/>
          <p:nvPr/>
        </p:nvSpPr>
        <p:spPr>
          <a:xfrm>
            <a:off x="1278367" y="7112748"/>
            <a:ext cx="2239689" cy="1253882"/>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latin typeface="Open Sans"/>
                <a:ea typeface="Open Sans"/>
                <a:cs typeface="Open Sans"/>
                <a:sym typeface="Open Sans"/>
              </a:rPr>
              <a:t>3</a:t>
            </a:r>
            <a:r>
              <a:rPr b="1" baseline="30000" lang="en-US" sz="2400">
                <a:solidFill>
                  <a:srgbClr val="000000"/>
                </a:solidFill>
                <a:latin typeface="Open Sans"/>
                <a:ea typeface="Open Sans"/>
                <a:cs typeface="Open Sans"/>
                <a:sym typeface="Open Sans"/>
              </a:rPr>
              <a:t>rd</a:t>
            </a:r>
            <a:r>
              <a:rPr b="1" lang="en-US" sz="2400">
                <a:solidFill>
                  <a:srgbClr val="000000"/>
                </a:solidFill>
                <a:latin typeface="Open Sans"/>
                <a:ea typeface="Open Sans"/>
                <a:cs typeface="Open Sans"/>
                <a:sym typeface="Open Sans"/>
              </a:rPr>
              <a:t> party Websites and Forums</a:t>
            </a:r>
            <a:endParaRPr sz="2400">
              <a:solidFill>
                <a:schemeClr val="lt1"/>
              </a:solidFill>
              <a:latin typeface="Open Sans"/>
              <a:ea typeface="Open Sans"/>
              <a:cs typeface="Open Sans"/>
              <a:sym typeface="Open Sans"/>
            </a:endParaRPr>
          </a:p>
        </p:txBody>
      </p:sp>
      <p:cxnSp>
        <p:nvCxnSpPr>
          <p:cNvPr id="264" name="Google Shape;264;p12"/>
          <p:cNvCxnSpPr/>
          <p:nvPr/>
        </p:nvCxnSpPr>
        <p:spPr>
          <a:xfrm flipH="1" rot="10800000">
            <a:off x="3684300" y="1028609"/>
            <a:ext cx="4112700" cy="3987300"/>
          </a:xfrm>
          <a:prstGeom prst="bentConnector3">
            <a:avLst>
              <a:gd fmla="val 53178" name="adj1"/>
            </a:avLst>
          </a:prstGeom>
          <a:noFill/>
          <a:ln cap="flat" cmpd="sng" w="28575">
            <a:solidFill>
              <a:schemeClr val="dk1"/>
            </a:solidFill>
            <a:prstDash val="solid"/>
            <a:round/>
            <a:headEnd len="sm" w="sm" type="none"/>
            <a:tailEnd len="med" w="med" type="triangle"/>
          </a:ln>
        </p:spPr>
      </p:cxnSp>
      <p:sp>
        <p:nvSpPr>
          <p:cNvPr id="265" name="Google Shape;265;p12"/>
          <p:cNvSpPr txBox="1"/>
          <p:nvPr/>
        </p:nvSpPr>
        <p:spPr>
          <a:xfrm rot="-5400000">
            <a:off x="3284777" y="2267877"/>
            <a:ext cx="4316346"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Open Sans"/>
                <a:ea typeface="Open Sans"/>
                <a:cs typeface="Open Sans"/>
                <a:sym typeface="Open Sans"/>
              </a:rPr>
              <a:t>Static/ Dynamic Analysis</a:t>
            </a:r>
            <a:endParaRPr/>
          </a:p>
        </p:txBody>
      </p:sp>
      <p:cxnSp>
        <p:nvCxnSpPr>
          <p:cNvPr id="266" name="Google Shape;266;p12"/>
          <p:cNvCxnSpPr/>
          <p:nvPr/>
        </p:nvCxnSpPr>
        <p:spPr>
          <a:xfrm>
            <a:off x="9475496" y="2613639"/>
            <a:ext cx="0" cy="533400"/>
          </a:xfrm>
          <a:prstGeom prst="straightConnector1">
            <a:avLst/>
          </a:prstGeom>
          <a:noFill/>
          <a:ln cap="flat" cmpd="sng" w="19050">
            <a:solidFill>
              <a:schemeClr val="dk1"/>
            </a:solidFill>
            <a:prstDash val="solid"/>
            <a:round/>
            <a:headEnd len="sm" w="sm" type="none"/>
            <a:tailEnd len="med" w="med" type="triangle"/>
          </a:ln>
        </p:spPr>
      </p:cxnSp>
      <p:sp>
        <p:nvSpPr>
          <p:cNvPr id="267" name="Google Shape;267;p12"/>
          <p:cNvSpPr txBox="1"/>
          <p:nvPr/>
        </p:nvSpPr>
        <p:spPr>
          <a:xfrm>
            <a:off x="8000612" y="4213132"/>
            <a:ext cx="2949768" cy="38039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Open Sans"/>
              <a:buNone/>
            </a:pPr>
            <a:r>
              <a:rPr b="1" lang="en-US" sz="2400">
                <a:solidFill>
                  <a:schemeClr val="dk1"/>
                </a:solidFill>
                <a:latin typeface="Open Sans"/>
                <a:ea typeface="Open Sans"/>
                <a:cs typeface="Open Sans"/>
                <a:sym typeface="Open Sans"/>
              </a:rPr>
              <a:t>Splitting data</a:t>
            </a:r>
            <a:endParaRPr b="0" i="0" sz="3200" u="none" cap="none" strike="noStrike">
              <a:solidFill>
                <a:schemeClr val="dk1"/>
              </a:solidFill>
              <a:latin typeface="Open Sans"/>
              <a:ea typeface="Open Sans"/>
              <a:cs typeface="Open Sans"/>
              <a:sym typeface="Open Sans"/>
            </a:endParaRPr>
          </a:p>
        </p:txBody>
      </p:sp>
      <p:cxnSp>
        <p:nvCxnSpPr>
          <p:cNvPr id="268" name="Google Shape;268;p12"/>
          <p:cNvCxnSpPr/>
          <p:nvPr/>
        </p:nvCxnSpPr>
        <p:spPr>
          <a:xfrm>
            <a:off x="9446964" y="4728165"/>
            <a:ext cx="0" cy="533400"/>
          </a:xfrm>
          <a:prstGeom prst="straightConnector1">
            <a:avLst/>
          </a:prstGeom>
          <a:noFill/>
          <a:ln cap="flat" cmpd="sng" w="19050">
            <a:solidFill>
              <a:schemeClr val="dk1"/>
            </a:solidFill>
            <a:prstDash val="solid"/>
            <a:round/>
            <a:headEnd len="sm" w="sm" type="none"/>
            <a:tailEnd len="med" w="med" type="triangle"/>
          </a:ln>
        </p:spPr>
      </p:cxnSp>
      <p:cxnSp>
        <p:nvCxnSpPr>
          <p:cNvPr id="269" name="Google Shape;269;p12"/>
          <p:cNvCxnSpPr/>
          <p:nvPr/>
        </p:nvCxnSpPr>
        <p:spPr>
          <a:xfrm>
            <a:off x="9407672" y="6279672"/>
            <a:ext cx="0" cy="533400"/>
          </a:xfrm>
          <a:prstGeom prst="straightConnector1">
            <a:avLst/>
          </a:prstGeom>
          <a:noFill/>
          <a:ln cap="flat" cmpd="sng" w="19050">
            <a:solidFill>
              <a:schemeClr val="dk1"/>
            </a:solidFill>
            <a:prstDash val="solid"/>
            <a:round/>
            <a:headEnd len="sm" w="sm" type="none"/>
            <a:tailEnd len="med" w="med" type="triangle"/>
          </a:ln>
        </p:spPr>
      </p:cxnSp>
      <p:sp>
        <p:nvSpPr>
          <p:cNvPr id="270" name="Google Shape;270;p12"/>
          <p:cNvSpPr txBox="1"/>
          <p:nvPr/>
        </p:nvSpPr>
        <p:spPr>
          <a:xfrm>
            <a:off x="7882887" y="6911636"/>
            <a:ext cx="3044073" cy="40024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Open Sans"/>
              <a:buNone/>
            </a:pPr>
            <a:r>
              <a:rPr b="1" lang="en-US" sz="2400">
                <a:solidFill>
                  <a:schemeClr val="dk1"/>
                </a:solidFill>
                <a:latin typeface="Open Sans"/>
                <a:ea typeface="Open Sans"/>
                <a:cs typeface="Open Sans"/>
                <a:sym typeface="Open Sans"/>
              </a:rPr>
              <a:t>Train Model</a:t>
            </a:r>
            <a:endParaRPr b="0" i="0" sz="3200" u="none" cap="none" strike="noStrike">
              <a:solidFill>
                <a:schemeClr val="dk1"/>
              </a:solidFill>
              <a:latin typeface="Open Sans"/>
              <a:ea typeface="Open Sans"/>
              <a:cs typeface="Open Sans"/>
              <a:sym typeface="Open Sans"/>
            </a:endParaRPr>
          </a:p>
        </p:txBody>
      </p:sp>
      <p:sp>
        <p:nvSpPr>
          <p:cNvPr id="271" name="Google Shape;271;p12"/>
          <p:cNvSpPr/>
          <p:nvPr/>
        </p:nvSpPr>
        <p:spPr>
          <a:xfrm>
            <a:off x="12678432" y="7366203"/>
            <a:ext cx="2308495" cy="431604"/>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Decision Trees</a:t>
            </a:r>
            <a:endParaRPr sz="2400">
              <a:solidFill>
                <a:schemeClr val="lt1"/>
              </a:solidFill>
              <a:latin typeface="Open Sans"/>
              <a:ea typeface="Open Sans"/>
              <a:cs typeface="Open Sans"/>
              <a:sym typeface="Open Sans"/>
            </a:endParaRPr>
          </a:p>
        </p:txBody>
      </p:sp>
      <p:sp>
        <p:nvSpPr>
          <p:cNvPr id="272" name="Google Shape;272;p12"/>
          <p:cNvSpPr/>
          <p:nvPr/>
        </p:nvSpPr>
        <p:spPr>
          <a:xfrm>
            <a:off x="12678432" y="8063466"/>
            <a:ext cx="2308495" cy="492874"/>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Naïve Bayes</a:t>
            </a:r>
            <a:endParaRPr sz="2400">
              <a:solidFill>
                <a:schemeClr val="lt1"/>
              </a:solidFill>
              <a:latin typeface="Open Sans"/>
              <a:ea typeface="Open Sans"/>
              <a:cs typeface="Open Sans"/>
              <a:sym typeface="Open Sans"/>
            </a:endParaRPr>
          </a:p>
        </p:txBody>
      </p:sp>
      <p:sp>
        <p:nvSpPr>
          <p:cNvPr id="273" name="Google Shape;273;p12"/>
          <p:cNvSpPr/>
          <p:nvPr/>
        </p:nvSpPr>
        <p:spPr>
          <a:xfrm>
            <a:off x="12752510" y="8699254"/>
            <a:ext cx="1478875" cy="61952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SVM</a:t>
            </a:r>
            <a:endParaRPr sz="2400">
              <a:solidFill>
                <a:schemeClr val="lt1"/>
              </a:solidFill>
              <a:latin typeface="Open Sans"/>
              <a:ea typeface="Open Sans"/>
              <a:cs typeface="Open Sans"/>
              <a:sym typeface="Open Sans"/>
            </a:endParaRPr>
          </a:p>
        </p:txBody>
      </p:sp>
      <p:sp>
        <p:nvSpPr>
          <p:cNvPr id="274" name="Google Shape;274;p12"/>
          <p:cNvSpPr/>
          <p:nvPr/>
        </p:nvSpPr>
        <p:spPr>
          <a:xfrm>
            <a:off x="15189772" y="7408239"/>
            <a:ext cx="2486959" cy="970188"/>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Logistic Regression</a:t>
            </a:r>
            <a:endParaRPr sz="2400">
              <a:solidFill>
                <a:schemeClr val="lt1"/>
              </a:solidFill>
              <a:latin typeface="Open Sans"/>
              <a:ea typeface="Open Sans"/>
              <a:cs typeface="Open Sans"/>
              <a:sym typeface="Open Sans"/>
            </a:endParaRPr>
          </a:p>
        </p:txBody>
      </p:sp>
      <p:sp>
        <p:nvSpPr>
          <p:cNvPr id="275" name="Google Shape;275;p12"/>
          <p:cNvSpPr/>
          <p:nvPr/>
        </p:nvSpPr>
        <p:spPr>
          <a:xfrm>
            <a:off x="14622539" y="8699254"/>
            <a:ext cx="1373215" cy="61952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MLP</a:t>
            </a:r>
            <a:endParaRPr sz="2400">
              <a:solidFill>
                <a:schemeClr val="lt1"/>
              </a:solidFill>
              <a:latin typeface="Open Sans"/>
              <a:ea typeface="Open Sans"/>
              <a:cs typeface="Open Sans"/>
              <a:sym typeface="Open Sans"/>
            </a:endParaRPr>
          </a:p>
        </p:txBody>
      </p:sp>
      <p:sp>
        <p:nvSpPr>
          <p:cNvPr id="276" name="Google Shape;276;p12"/>
          <p:cNvSpPr/>
          <p:nvPr/>
        </p:nvSpPr>
        <p:spPr>
          <a:xfrm>
            <a:off x="16362541" y="8716243"/>
            <a:ext cx="1373215" cy="61952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2400">
                <a:solidFill>
                  <a:srgbClr val="000000"/>
                </a:solidFill>
                <a:highlight>
                  <a:srgbClr val="F7F7F7"/>
                </a:highlight>
                <a:latin typeface="Open Sans"/>
                <a:ea typeface="Open Sans"/>
                <a:cs typeface="Open Sans"/>
                <a:sym typeface="Open Sans"/>
              </a:rPr>
              <a:t>RF</a:t>
            </a:r>
            <a:endParaRPr sz="2400">
              <a:solidFill>
                <a:schemeClr val="lt1"/>
              </a:solidFill>
              <a:latin typeface="Open Sans"/>
              <a:ea typeface="Open Sans"/>
              <a:cs typeface="Open Sans"/>
              <a:sym typeface="Open Sans"/>
            </a:endParaRPr>
          </a:p>
        </p:txBody>
      </p:sp>
      <p:cxnSp>
        <p:nvCxnSpPr>
          <p:cNvPr id="277" name="Google Shape;277;p12"/>
          <p:cNvCxnSpPr/>
          <p:nvPr/>
        </p:nvCxnSpPr>
        <p:spPr>
          <a:xfrm rot="10800000">
            <a:off x="10815498" y="7112736"/>
            <a:ext cx="1455300" cy="893700"/>
          </a:xfrm>
          <a:prstGeom prst="bentConnector3">
            <a:avLst>
              <a:gd fmla="val 49995" name="adj1"/>
            </a:avLst>
          </a:prstGeom>
          <a:noFill/>
          <a:ln cap="flat" cmpd="sng" w="9525">
            <a:solidFill>
              <a:schemeClr val="dk1"/>
            </a:solidFill>
            <a:prstDash val="solid"/>
            <a:round/>
            <a:headEnd len="sm" w="sm" type="none"/>
            <a:tailEnd len="med" w="med" type="triangle"/>
          </a:ln>
        </p:spPr>
      </p:cxnSp>
      <p:cxnSp>
        <p:nvCxnSpPr>
          <p:cNvPr id="278" name="Google Shape;278;p12"/>
          <p:cNvCxnSpPr/>
          <p:nvPr/>
        </p:nvCxnSpPr>
        <p:spPr>
          <a:xfrm>
            <a:off x="9404924" y="7407648"/>
            <a:ext cx="0" cy="533400"/>
          </a:xfrm>
          <a:prstGeom prst="straightConnector1">
            <a:avLst/>
          </a:prstGeom>
          <a:noFill/>
          <a:ln cap="flat" cmpd="sng" w="19050">
            <a:solidFill>
              <a:schemeClr val="dk1"/>
            </a:solidFill>
            <a:prstDash val="solid"/>
            <a:round/>
            <a:headEnd len="sm" w="sm" type="none"/>
            <a:tailEnd len="med" w="med" type="triangle"/>
          </a:ln>
        </p:spPr>
      </p:cxnSp>
      <p:sp>
        <p:nvSpPr>
          <p:cNvPr id="279" name="Google Shape;279;p12"/>
          <p:cNvSpPr/>
          <p:nvPr/>
        </p:nvSpPr>
        <p:spPr>
          <a:xfrm>
            <a:off x="6773957" y="9538928"/>
            <a:ext cx="2356193" cy="540957"/>
          </a:xfrm>
          <a:prstGeom prst="rect">
            <a:avLst/>
          </a:prstGeom>
          <a:solidFill>
            <a:srgbClr val="F2F2F2"/>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Open Sans"/>
              <a:ea typeface="Open Sans"/>
              <a:cs typeface="Open Sans"/>
              <a:sym typeface="Open Sans"/>
            </a:endParaRPr>
          </a:p>
        </p:txBody>
      </p:sp>
      <p:sp>
        <p:nvSpPr>
          <p:cNvPr id="280" name="Google Shape;280;p12"/>
          <p:cNvSpPr/>
          <p:nvPr/>
        </p:nvSpPr>
        <p:spPr>
          <a:xfrm>
            <a:off x="9446964" y="9544022"/>
            <a:ext cx="2356193" cy="540957"/>
          </a:xfrm>
          <a:prstGeom prst="rect">
            <a:avLst/>
          </a:prstGeom>
          <a:solidFill>
            <a:srgbClr val="F2F2F2"/>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Open Sans"/>
              <a:ea typeface="Open Sans"/>
              <a:cs typeface="Open Sans"/>
              <a:sym typeface="Open Sans"/>
            </a:endParaRPr>
          </a:p>
        </p:txBody>
      </p:sp>
      <p:sp>
        <p:nvSpPr>
          <p:cNvPr id="281" name="Google Shape;281;p12"/>
          <p:cNvSpPr txBox="1"/>
          <p:nvPr/>
        </p:nvSpPr>
        <p:spPr>
          <a:xfrm>
            <a:off x="6858000" y="9521888"/>
            <a:ext cx="2117809" cy="60073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C00000"/>
              </a:buClr>
              <a:buSzPts val="3200"/>
              <a:buFont typeface="Open Sans"/>
              <a:buNone/>
            </a:pPr>
            <a:r>
              <a:rPr b="1" i="0" lang="en-US" sz="3200" u="none" cap="none" strike="noStrike">
                <a:solidFill>
                  <a:srgbClr val="C00000"/>
                </a:solidFill>
                <a:latin typeface="Open Sans"/>
                <a:ea typeface="Open Sans"/>
                <a:cs typeface="Open Sans"/>
                <a:sym typeface="Open Sans"/>
              </a:rPr>
              <a:t>Malicious</a:t>
            </a:r>
            <a:endParaRPr b="0" i="0" sz="3200" u="none" cap="none" strike="noStrike">
              <a:solidFill>
                <a:srgbClr val="C00000"/>
              </a:solidFill>
              <a:latin typeface="Open Sans"/>
              <a:ea typeface="Open Sans"/>
              <a:cs typeface="Open Sans"/>
              <a:sym typeface="Open Sans"/>
            </a:endParaRPr>
          </a:p>
        </p:txBody>
      </p:sp>
      <p:sp>
        <p:nvSpPr>
          <p:cNvPr id="282" name="Google Shape;282;p12"/>
          <p:cNvSpPr/>
          <p:nvPr/>
        </p:nvSpPr>
        <p:spPr>
          <a:xfrm>
            <a:off x="6656019" y="9432527"/>
            <a:ext cx="5261661" cy="740173"/>
          </a:xfrm>
          <a:prstGeom prst="roundRect">
            <a:avLst>
              <a:gd fmla="val 16667" name="adj"/>
            </a:avLst>
          </a:prstGeom>
          <a:noFill/>
          <a:ln cap="flat" cmpd="sng" w="28575">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Open Sans"/>
              <a:ea typeface="Open Sans"/>
              <a:cs typeface="Open Sans"/>
              <a:sym typeface="Open Sans"/>
            </a:endParaRPr>
          </a:p>
        </p:txBody>
      </p:sp>
      <p:cxnSp>
        <p:nvCxnSpPr>
          <p:cNvPr id="283" name="Google Shape;283;p12"/>
          <p:cNvCxnSpPr/>
          <p:nvPr/>
        </p:nvCxnSpPr>
        <p:spPr>
          <a:xfrm>
            <a:off x="7459757" y="9170560"/>
            <a:ext cx="3673956" cy="2398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647"/>
              </a:srgbClr>
            </a:outerShdw>
          </a:effectLst>
        </p:spPr>
      </p:cxnSp>
      <p:cxnSp>
        <p:nvCxnSpPr>
          <p:cNvPr id="284" name="Google Shape;284;p12"/>
          <p:cNvCxnSpPr/>
          <p:nvPr/>
        </p:nvCxnSpPr>
        <p:spPr>
          <a:xfrm>
            <a:off x="7459757" y="9185196"/>
            <a:ext cx="0" cy="260622"/>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85" name="Google Shape;285;p12"/>
          <p:cNvCxnSpPr/>
          <p:nvPr/>
        </p:nvCxnSpPr>
        <p:spPr>
          <a:xfrm>
            <a:off x="11117357" y="9185196"/>
            <a:ext cx="0" cy="260622"/>
          </a:xfrm>
          <a:prstGeom prst="straightConnector1">
            <a:avLst/>
          </a:prstGeom>
          <a:noFill/>
          <a:ln cap="flat" cmpd="sng" w="25400">
            <a:solidFill>
              <a:schemeClr val="dk1"/>
            </a:solidFill>
            <a:prstDash val="solid"/>
            <a:round/>
            <a:headEnd len="sm" w="sm" type="none"/>
            <a:tailEnd len="med" w="med" type="triangle"/>
          </a:ln>
          <a:effectLst>
            <a:outerShdw blurRad="40000" rotWithShape="0" dir="5400000" dist="20000">
              <a:srgbClr val="000000">
                <a:alpha val="37647"/>
              </a:srgbClr>
            </a:outerShdw>
          </a:effectLst>
        </p:spPr>
      </p:cxnSp>
      <p:cxnSp>
        <p:nvCxnSpPr>
          <p:cNvPr id="286" name="Google Shape;286;p12"/>
          <p:cNvCxnSpPr/>
          <p:nvPr/>
        </p:nvCxnSpPr>
        <p:spPr>
          <a:xfrm>
            <a:off x="9391453" y="8634017"/>
            <a:ext cx="0" cy="533400"/>
          </a:xfrm>
          <a:prstGeom prst="straightConnector1">
            <a:avLst/>
          </a:prstGeom>
          <a:noFill/>
          <a:ln cap="flat" cmpd="sng" w="19050">
            <a:solidFill>
              <a:schemeClr val="dk1"/>
            </a:solidFill>
            <a:prstDash val="solid"/>
            <a:round/>
            <a:headEnd len="sm" w="sm" type="none"/>
            <a:tailEnd len="med" w="med" type="triangle"/>
          </a:ln>
        </p:spPr>
      </p:cxnSp>
      <p:sp>
        <p:nvSpPr>
          <p:cNvPr id="287" name="Google Shape;287;p12"/>
          <p:cNvSpPr txBox="1"/>
          <p:nvPr/>
        </p:nvSpPr>
        <p:spPr>
          <a:xfrm>
            <a:off x="9601983" y="9538038"/>
            <a:ext cx="2117809" cy="60073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8000"/>
              </a:buClr>
              <a:buSzPts val="3200"/>
              <a:buFont typeface="Open Sans"/>
              <a:buNone/>
            </a:pPr>
            <a:r>
              <a:rPr b="1" i="0" lang="en-US" sz="3200" u="none" cap="none" strike="noStrike">
                <a:solidFill>
                  <a:srgbClr val="008000"/>
                </a:solidFill>
                <a:latin typeface="Open Sans"/>
                <a:ea typeface="Open Sans"/>
                <a:cs typeface="Open Sans"/>
                <a:sym typeface="Open Sans"/>
              </a:rPr>
              <a:t>Benign</a:t>
            </a:r>
            <a:endParaRPr b="0" i="0" sz="3200" u="none" cap="none" strike="noStrike">
              <a:solidFill>
                <a:srgbClr val="008000"/>
              </a:solidFill>
              <a:latin typeface="Open Sans"/>
              <a:ea typeface="Open Sans"/>
              <a:cs typeface="Open Sans"/>
              <a:sym typeface="Open Sans"/>
            </a:endParaRPr>
          </a:p>
        </p:txBody>
      </p:sp>
      <p:sp>
        <p:nvSpPr>
          <p:cNvPr id="288" name="Google Shape;288;p12">
            <a:hlinkClick action="ppaction://hlinksldjump" r:id="rId5"/>
          </p:cNvPr>
          <p:cNvSpPr/>
          <p:nvPr/>
        </p:nvSpPr>
        <p:spPr>
          <a:xfrm>
            <a:off x="7825504" y="3196476"/>
            <a:ext cx="3308209" cy="594576"/>
          </a:xfrm>
          <a:prstGeom prst="rect">
            <a:avLst/>
          </a:prstGeom>
          <a:solidFill>
            <a:srgbClr val="F2F2F2"/>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12"/>
          <p:cNvSpPr txBox="1"/>
          <p:nvPr/>
        </p:nvSpPr>
        <p:spPr>
          <a:xfrm>
            <a:off x="7543800" y="3253157"/>
            <a:ext cx="3878358" cy="38039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Open Sans"/>
              <a:buNone/>
            </a:pPr>
            <a:r>
              <a:rPr b="1" lang="en-US" sz="2400">
                <a:solidFill>
                  <a:schemeClr val="dk1"/>
                </a:solidFill>
                <a:latin typeface="Open Sans"/>
                <a:ea typeface="Open Sans"/>
                <a:cs typeface="Open Sans"/>
                <a:sym typeface="Open Sans"/>
              </a:rPr>
              <a:t>Exploratory Data Analysis</a:t>
            </a:r>
            <a:endParaRPr b="0" i="0" sz="3200" u="none" cap="none" strike="noStrike">
              <a:solidFill>
                <a:schemeClr val="dk1"/>
              </a:solidFill>
              <a:latin typeface="Open Sans"/>
              <a:ea typeface="Open Sans"/>
              <a:cs typeface="Open Sans"/>
              <a:sym typeface="Open Sans"/>
            </a:endParaRPr>
          </a:p>
        </p:txBody>
      </p:sp>
      <p:cxnSp>
        <p:nvCxnSpPr>
          <p:cNvPr id="290" name="Google Shape;290;p12"/>
          <p:cNvCxnSpPr/>
          <p:nvPr/>
        </p:nvCxnSpPr>
        <p:spPr>
          <a:xfrm>
            <a:off x="9498542" y="1438878"/>
            <a:ext cx="0" cy="533400"/>
          </a:xfrm>
          <a:prstGeom prst="straightConnector1">
            <a:avLst/>
          </a:prstGeom>
          <a:noFill/>
          <a:ln cap="flat" cmpd="sng" w="19050">
            <a:solidFill>
              <a:schemeClr val="dk1"/>
            </a:solidFill>
            <a:prstDash val="solid"/>
            <a:round/>
            <a:headEnd len="sm" w="sm" type="none"/>
            <a:tailEnd len="med" w="med" type="triangle"/>
          </a:ln>
        </p:spPr>
      </p:cxnSp>
      <p:sp>
        <p:nvSpPr>
          <p:cNvPr id="291" name="Google Shape;291;p12"/>
          <p:cNvSpPr/>
          <p:nvPr/>
        </p:nvSpPr>
        <p:spPr>
          <a:xfrm>
            <a:off x="304506" y="1622483"/>
            <a:ext cx="4112838" cy="8316921"/>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92" name="Google Shape;292;p12"/>
          <p:cNvSpPr/>
          <p:nvPr/>
        </p:nvSpPr>
        <p:spPr>
          <a:xfrm>
            <a:off x="7301030" y="1714500"/>
            <a:ext cx="4112838" cy="230253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cxnSp>
        <p:nvCxnSpPr>
          <p:cNvPr id="293" name="Google Shape;293;p12"/>
          <p:cNvCxnSpPr/>
          <p:nvPr/>
        </p:nvCxnSpPr>
        <p:spPr>
          <a:xfrm>
            <a:off x="9475496" y="3791052"/>
            <a:ext cx="0" cy="533400"/>
          </a:xfrm>
          <a:prstGeom prst="straightConnector1">
            <a:avLst/>
          </a:prstGeom>
          <a:noFill/>
          <a:ln cap="flat" cmpd="sng" w="19050">
            <a:solidFill>
              <a:schemeClr val="dk1"/>
            </a:solidFill>
            <a:prstDash val="solid"/>
            <a:round/>
            <a:headEnd len="sm" w="sm" type="none"/>
            <a:tailEnd len="med" w="med" type="triangle"/>
          </a:ln>
        </p:spPr>
      </p:cxnSp>
      <p:sp>
        <p:nvSpPr>
          <p:cNvPr id="294" name="Google Shape;294;p12"/>
          <p:cNvSpPr/>
          <p:nvPr/>
        </p:nvSpPr>
        <p:spPr>
          <a:xfrm>
            <a:off x="6349566" y="7745360"/>
            <a:ext cx="5842434" cy="254164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298" name="Shape 298"/>
        <p:cNvGrpSpPr/>
        <p:nvPr/>
      </p:nvGrpSpPr>
      <p:grpSpPr>
        <a:xfrm>
          <a:off x="0" y="0"/>
          <a:ext cx="0" cy="0"/>
          <a:chOff x="0" y="0"/>
          <a:chExt cx="0" cy="0"/>
        </a:xfrm>
      </p:grpSpPr>
      <p:sp>
        <p:nvSpPr>
          <p:cNvPr id="299" name="Google Shape;299;p13"/>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13"/>
          <p:cNvSpPr txBox="1"/>
          <p:nvPr/>
        </p:nvSpPr>
        <p:spPr>
          <a:xfrm>
            <a:off x="1028699" y="4373261"/>
            <a:ext cx="16230600" cy="234474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7448">
                <a:solidFill>
                  <a:srgbClr val="F2F2F2"/>
                </a:solidFill>
                <a:latin typeface="Arial"/>
                <a:ea typeface="Arial"/>
                <a:cs typeface="Arial"/>
                <a:sym typeface="Arial"/>
              </a:rPr>
              <a:t>CONCLUSION</a:t>
            </a:r>
            <a:endParaRPr/>
          </a:p>
        </p:txBody>
      </p:sp>
      <p:sp>
        <p:nvSpPr>
          <p:cNvPr id="301" name="Google Shape;301;p13"/>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302" name="Google Shape;302;p13"/>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4"/>
          <p:cNvSpPr txBox="1"/>
          <p:nvPr/>
        </p:nvSpPr>
        <p:spPr>
          <a:xfrm>
            <a:off x="1524000" y="1638300"/>
            <a:ext cx="14543614" cy="723274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4400">
                <a:solidFill>
                  <a:srgbClr val="0A1828"/>
                </a:solidFill>
                <a:latin typeface="Open Sans"/>
                <a:ea typeface="Open Sans"/>
                <a:cs typeface="Open Sans"/>
                <a:sym typeface="Open Sans"/>
              </a:rPr>
              <a:t>A systematic model to:</a:t>
            </a:r>
            <a:endParaRPr/>
          </a:p>
          <a:p>
            <a:pPr indent="0" lvl="0" marL="0" marR="0" rtl="0" algn="l">
              <a:spcBef>
                <a:spcPts val="0"/>
              </a:spcBef>
              <a:spcAft>
                <a:spcPts val="0"/>
              </a:spcAft>
              <a:buNone/>
            </a:pPr>
            <a:r>
              <a:t/>
            </a:r>
            <a:endParaRPr sz="3000">
              <a:solidFill>
                <a:srgbClr val="0A1828"/>
              </a:solidFill>
              <a:latin typeface="Open Sans"/>
              <a:ea typeface="Open Sans"/>
              <a:cs typeface="Open Sans"/>
              <a:sym typeface="Open Sans"/>
            </a:endParaRPr>
          </a:p>
          <a:p>
            <a:pPr indent="-571500" lvl="2" marL="1485900" marR="0" rtl="0" algn="l">
              <a:spcBef>
                <a:spcPts val="0"/>
              </a:spcBef>
              <a:spcAft>
                <a:spcPts val="0"/>
              </a:spcAft>
              <a:buClr>
                <a:srgbClr val="0A1828"/>
              </a:buClr>
              <a:buSzPts val="4400"/>
              <a:buFont typeface="Arial"/>
              <a:buChar char="•"/>
            </a:pPr>
            <a:r>
              <a:rPr b="0" i="0" lang="en-US" sz="4400" u="none" cap="none" strike="noStrike">
                <a:solidFill>
                  <a:srgbClr val="0A1828"/>
                </a:solidFill>
                <a:latin typeface="Open Sans"/>
                <a:ea typeface="Open Sans"/>
                <a:cs typeface="Open Sans"/>
                <a:sym typeface="Open Sans"/>
              </a:rPr>
              <a:t>Differentiate between malignant and benign android malware</a:t>
            </a:r>
            <a:endParaRPr/>
          </a:p>
          <a:p>
            <a:pPr indent="-571500" lvl="2" marL="1485900" marR="0" rtl="0" algn="l">
              <a:spcBef>
                <a:spcPts val="0"/>
              </a:spcBef>
              <a:spcAft>
                <a:spcPts val="0"/>
              </a:spcAft>
              <a:buClr>
                <a:srgbClr val="0A1828"/>
              </a:buClr>
              <a:buSzPts val="4400"/>
              <a:buFont typeface="Arial"/>
              <a:buChar char="•"/>
            </a:pPr>
            <a:r>
              <a:rPr b="0" i="0" lang="en-US" sz="4400" u="none" cap="none" strike="noStrike">
                <a:solidFill>
                  <a:srgbClr val="0A1828"/>
                </a:solidFill>
                <a:latin typeface="Open Sans"/>
                <a:ea typeface="Open Sans"/>
                <a:cs typeface="Open Sans"/>
                <a:sym typeface="Open Sans"/>
              </a:rPr>
              <a:t>Visualize the data for better understanding of features. </a:t>
            </a:r>
            <a:endParaRPr/>
          </a:p>
          <a:p>
            <a:pPr indent="-571500" lvl="2" marL="1485900" marR="0" rtl="0" algn="l">
              <a:spcBef>
                <a:spcPts val="0"/>
              </a:spcBef>
              <a:spcAft>
                <a:spcPts val="0"/>
              </a:spcAft>
              <a:buClr>
                <a:srgbClr val="0A1828"/>
              </a:buClr>
              <a:buSzPts val="4400"/>
              <a:buFont typeface="Arial"/>
              <a:buChar char="•"/>
            </a:pPr>
            <a:r>
              <a:rPr b="0" i="0" lang="en-US" sz="4400" u="none" cap="none" strike="noStrike">
                <a:solidFill>
                  <a:srgbClr val="0A1828"/>
                </a:solidFill>
                <a:latin typeface="Open Sans"/>
                <a:ea typeface="Open Sans"/>
                <a:cs typeface="Open Sans"/>
                <a:sym typeface="Open Sans"/>
              </a:rPr>
              <a:t>Machine Learning models like </a:t>
            </a:r>
            <a:endParaRPr/>
          </a:p>
          <a:p>
            <a:pPr indent="-571500" lvl="4" marL="2400300" marR="0" rtl="0" algn="l">
              <a:spcBef>
                <a:spcPts val="0"/>
              </a:spcBef>
              <a:spcAft>
                <a:spcPts val="0"/>
              </a:spcAft>
              <a:buClr>
                <a:srgbClr val="0A1828"/>
              </a:buClr>
              <a:buSzPts val="4400"/>
              <a:buFont typeface="Arial"/>
              <a:buChar char="•"/>
            </a:pPr>
            <a:r>
              <a:rPr b="1" i="0" lang="en-US" sz="4400" u="none" cap="none" strike="noStrike">
                <a:solidFill>
                  <a:srgbClr val="0A1828"/>
                </a:solidFill>
                <a:latin typeface="Open Sans"/>
                <a:ea typeface="Open Sans"/>
                <a:cs typeface="Open Sans"/>
                <a:sym typeface="Open Sans"/>
              </a:rPr>
              <a:t>Logistic Regression</a:t>
            </a:r>
            <a:endParaRPr/>
          </a:p>
          <a:p>
            <a:pPr indent="-571500" lvl="4" marL="2400300" marR="0" rtl="0" algn="l">
              <a:spcBef>
                <a:spcPts val="0"/>
              </a:spcBef>
              <a:spcAft>
                <a:spcPts val="0"/>
              </a:spcAft>
              <a:buClr>
                <a:srgbClr val="0A1828"/>
              </a:buClr>
              <a:buSzPts val="4400"/>
              <a:buFont typeface="Arial"/>
              <a:buChar char="•"/>
            </a:pPr>
            <a:r>
              <a:rPr b="1" i="0" lang="en-US" sz="4400" u="none" cap="none" strike="noStrike">
                <a:solidFill>
                  <a:srgbClr val="0A1828"/>
                </a:solidFill>
                <a:latin typeface="Open Sans"/>
                <a:ea typeface="Open Sans"/>
                <a:cs typeface="Open Sans"/>
                <a:sym typeface="Open Sans"/>
              </a:rPr>
              <a:t>Multi Layer Perception</a:t>
            </a:r>
            <a:endParaRPr/>
          </a:p>
          <a:p>
            <a:pPr indent="-571500" lvl="4" marL="2400300" marR="0" rtl="0" algn="l">
              <a:spcBef>
                <a:spcPts val="0"/>
              </a:spcBef>
              <a:spcAft>
                <a:spcPts val="0"/>
              </a:spcAft>
              <a:buClr>
                <a:srgbClr val="0A1828"/>
              </a:buClr>
              <a:buSzPts val="4400"/>
              <a:buFont typeface="Arial"/>
              <a:buChar char="•"/>
            </a:pPr>
            <a:r>
              <a:rPr b="1" i="0" lang="en-US" sz="4400" u="none" cap="none" strike="noStrike">
                <a:solidFill>
                  <a:srgbClr val="0A1828"/>
                </a:solidFill>
                <a:latin typeface="Open Sans"/>
                <a:ea typeface="Open Sans"/>
                <a:cs typeface="Open Sans"/>
                <a:sym typeface="Open Sans"/>
              </a:rPr>
              <a:t>Decision Tree</a:t>
            </a:r>
            <a:r>
              <a:rPr b="0" i="0" lang="en-US" sz="4400" u="none" cap="none" strike="noStrike">
                <a:solidFill>
                  <a:srgbClr val="0A1828"/>
                </a:solidFill>
                <a:latin typeface="Open Sans"/>
                <a:ea typeface="Open Sans"/>
                <a:cs typeface="Open Sans"/>
                <a:sym typeface="Open Sans"/>
              </a:rPr>
              <a:t> </a:t>
            </a:r>
            <a:endParaRPr/>
          </a:p>
          <a:p>
            <a:pPr indent="0" lvl="3" marL="1371600" marR="0" rtl="0" algn="l">
              <a:spcBef>
                <a:spcPts val="0"/>
              </a:spcBef>
              <a:spcAft>
                <a:spcPts val="0"/>
              </a:spcAft>
              <a:buNone/>
            </a:pPr>
            <a:r>
              <a:rPr b="0" i="0" lang="en-US" sz="4400" u="none" cap="none" strike="noStrike">
                <a:solidFill>
                  <a:srgbClr val="0A1828"/>
                </a:solidFill>
                <a:latin typeface="Open Sans"/>
                <a:ea typeface="Open Sans"/>
                <a:cs typeface="Open Sans"/>
                <a:sym typeface="Open Sans"/>
              </a:rPr>
              <a:t>to model the problem. </a:t>
            </a:r>
            <a:endParaRPr/>
          </a:p>
          <a:p>
            <a:pPr indent="-571500" lvl="2" marL="1485900" marR="0" rtl="0" algn="l">
              <a:spcBef>
                <a:spcPts val="0"/>
              </a:spcBef>
              <a:spcAft>
                <a:spcPts val="0"/>
              </a:spcAft>
              <a:buClr>
                <a:srgbClr val="0A1828"/>
              </a:buClr>
              <a:buSzPts val="4400"/>
              <a:buFont typeface="Arial"/>
              <a:buChar char="•"/>
            </a:pPr>
            <a:r>
              <a:rPr b="0" i="0" lang="en-US" sz="4400" u="none" cap="none" strike="noStrike">
                <a:solidFill>
                  <a:srgbClr val="0A1828"/>
                </a:solidFill>
                <a:latin typeface="Open Sans"/>
                <a:ea typeface="Open Sans"/>
                <a:cs typeface="Open Sans"/>
                <a:sym typeface="Open Sans"/>
              </a:rPr>
              <a:t>Use of platforms like Kaggle and Google Colaboratory.</a:t>
            </a:r>
            <a:endParaRPr b="0" i="0" sz="1600" u="none" cap="none" strike="noStrike">
              <a:solidFill>
                <a:srgbClr val="0A1828"/>
              </a:solidFill>
              <a:latin typeface="Open Sans"/>
              <a:ea typeface="Open Sans"/>
              <a:cs typeface="Open Sans"/>
              <a:sym typeface="Open Sans"/>
            </a:endParaRPr>
          </a:p>
        </p:txBody>
      </p:sp>
      <p:sp>
        <p:nvSpPr>
          <p:cNvPr id="309" name="Google Shape;309;p14"/>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10" name="Google Shape;310;p14"/>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CDC-720 Malware Detection and Analysis</a:t>
            </a:r>
            <a:endParaRPr/>
          </a:p>
        </p:txBody>
      </p:sp>
      <p:sp>
        <p:nvSpPr>
          <p:cNvPr id="311" name="Google Shape;311;p14"/>
          <p:cNvSpPr/>
          <p:nvPr/>
        </p:nvSpPr>
        <p:spPr>
          <a:xfrm rot="-5400000">
            <a:off x="4000500" y="-4000501"/>
            <a:ext cx="10287000" cy="18288001"/>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315" name="Shape 315"/>
        <p:cNvGrpSpPr/>
        <p:nvPr/>
      </p:nvGrpSpPr>
      <p:grpSpPr>
        <a:xfrm>
          <a:off x="0" y="0"/>
          <a:ext cx="0" cy="0"/>
          <a:chOff x="0" y="0"/>
          <a:chExt cx="0" cy="0"/>
        </a:xfrm>
      </p:grpSpPr>
      <p:sp>
        <p:nvSpPr>
          <p:cNvPr id="316" name="Google Shape;316;p15"/>
          <p:cNvSpPr/>
          <p:nvPr/>
        </p:nvSpPr>
        <p:spPr>
          <a:xfrm rot="-5400000">
            <a:off x="4000500" y="-4000500"/>
            <a:ext cx="10287000" cy="18287999"/>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5"/>
          <p:cNvSpPr txBox="1"/>
          <p:nvPr/>
        </p:nvSpPr>
        <p:spPr>
          <a:xfrm rot="-5400000">
            <a:off x="-3804145" y="3346946"/>
            <a:ext cx="9677400" cy="2983509"/>
          </a:xfrm>
          <a:prstGeom prst="rect">
            <a:avLst/>
          </a:prstGeom>
          <a:noFill/>
          <a:ln>
            <a:noFill/>
          </a:ln>
        </p:spPr>
        <p:txBody>
          <a:bodyPr anchorCtr="0" anchor="t" bIns="0" lIns="0" spcFirstLastPara="1" rIns="0" wrap="square" tIns="0">
            <a:spAutoFit/>
          </a:bodyPr>
          <a:lstStyle/>
          <a:p>
            <a:pPr indent="0" lvl="0" marL="0" marR="0" rtl="0" algn="ctr">
              <a:lnSpc>
                <a:spcPct val="247333"/>
              </a:lnSpc>
              <a:spcBef>
                <a:spcPts val="0"/>
              </a:spcBef>
              <a:spcAft>
                <a:spcPts val="0"/>
              </a:spcAft>
              <a:buNone/>
            </a:pPr>
            <a:r>
              <a:rPr b="1" lang="en-US" sz="10800">
                <a:solidFill>
                  <a:srgbClr val="F2F2F2"/>
                </a:solidFill>
                <a:latin typeface="Arial"/>
                <a:ea typeface="Arial"/>
                <a:cs typeface="Arial"/>
                <a:sym typeface="Arial"/>
              </a:rPr>
              <a:t>REFERENCES</a:t>
            </a:r>
            <a:endParaRPr/>
          </a:p>
        </p:txBody>
      </p:sp>
      <p:sp>
        <p:nvSpPr>
          <p:cNvPr id="318" name="Google Shape;318;p15"/>
          <p:cNvSpPr txBox="1"/>
          <p:nvPr/>
        </p:nvSpPr>
        <p:spPr>
          <a:xfrm rot="-5400000">
            <a:off x="12207938" y="4139344"/>
            <a:ext cx="9444036" cy="2008312"/>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ctr">
              <a:lnSpc>
                <a:spcPct val="90000"/>
              </a:lnSpc>
              <a:spcBef>
                <a:spcPts val="0"/>
              </a:spcBef>
              <a:spcAft>
                <a:spcPts val="0"/>
              </a:spcAft>
              <a:buClr>
                <a:srgbClr val="F2F2F2"/>
              </a:buClr>
              <a:buSzPct val="100000"/>
              <a:buFont typeface="Open Sans"/>
              <a:buNone/>
            </a:pPr>
            <a:r>
              <a:rPr b="1" lang="en-US" sz="7200">
                <a:solidFill>
                  <a:srgbClr val="F2F2F2"/>
                </a:solidFill>
                <a:latin typeface="Open Sans"/>
                <a:ea typeface="Open Sans"/>
                <a:cs typeface="Open Sans"/>
                <a:sym typeface="Open Sans"/>
              </a:rPr>
              <a:t>Android Malware Detection System</a:t>
            </a:r>
            <a:endParaRPr/>
          </a:p>
        </p:txBody>
      </p:sp>
      <p:sp>
        <p:nvSpPr>
          <p:cNvPr id="319" name="Google Shape;319;p15"/>
          <p:cNvSpPr txBox="1"/>
          <p:nvPr/>
        </p:nvSpPr>
        <p:spPr>
          <a:xfrm>
            <a:off x="4572000" y="9993987"/>
            <a:ext cx="9601200" cy="29649142"/>
          </a:xfrm>
          <a:prstGeom prst="rect">
            <a:avLst/>
          </a:prstGeom>
          <a:noFill/>
          <a:ln>
            <a:noFill/>
          </a:ln>
        </p:spPr>
        <p:txBody>
          <a:bodyPr anchorCtr="0" anchor="t" bIns="45700" lIns="91425" spcFirstLastPara="1" rIns="91425" wrap="square" tIns="45700">
            <a:spAutoFit/>
          </a:bodyPr>
          <a:lstStyle/>
          <a:p>
            <a:pPr indent="0" lvl="2" marL="914400" marR="783590" rtl="0" algn="ctr">
              <a:spcBef>
                <a:spcPts val="0"/>
              </a:spcBef>
              <a:spcAft>
                <a:spcPts val="0"/>
              </a:spcAft>
              <a:buNone/>
            </a:pPr>
            <a:r>
              <a:rPr b="1" i="0" lang="en-US" sz="5400" u="none" cap="none" strike="noStrike">
                <a:solidFill>
                  <a:srgbClr val="F2F2F2"/>
                </a:solidFill>
                <a:latin typeface="Open Sans"/>
                <a:ea typeface="Open Sans"/>
                <a:cs typeface="Open Sans"/>
                <a:sym typeface="Open Sans"/>
              </a:rPr>
              <a:t>Android Malware Prediction using Machine Learning Techniques: A Review.</a:t>
            </a:r>
            <a:endParaRPr/>
          </a:p>
          <a:p>
            <a:pPr indent="0" lvl="2" marL="914400" marR="783590" rtl="0" algn="ctr">
              <a:spcBef>
                <a:spcPts val="1000"/>
              </a:spcBef>
              <a:spcAft>
                <a:spcPts val="0"/>
              </a:spcAft>
              <a:buNone/>
            </a:pPr>
            <a:r>
              <a:rPr b="0" i="0" lang="en-US" sz="4800" u="none" cap="none" strike="noStrike">
                <a:solidFill>
                  <a:srgbClr val="F2F2F2"/>
                </a:solidFill>
                <a:latin typeface="Open Sans"/>
                <a:ea typeface="Open Sans"/>
                <a:cs typeface="Open Sans"/>
                <a:sym typeface="Open Sans"/>
              </a:rPr>
              <a:t>Hareram Kumar, Prof. Sarwesh Site (2022)</a:t>
            </a:r>
            <a:endParaRPr b="0" i="0" sz="48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t/>
            </a:r>
            <a:endParaRPr b="0" i="0" sz="54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1" i="0" lang="en-US" sz="5400" u="none" cap="none" strike="noStrike">
                <a:solidFill>
                  <a:srgbClr val="F2F2F2"/>
                </a:solidFill>
                <a:latin typeface="Open Sans"/>
                <a:ea typeface="Open Sans"/>
                <a:cs typeface="Open Sans"/>
                <a:sym typeface="Open Sans"/>
              </a:rPr>
              <a:t>An Efficient Android Malware Prediction Using Ensemble Machine Learning Algorithms. </a:t>
            </a:r>
            <a:endParaRPr/>
          </a:p>
          <a:p>
            <a:pPr indent="0" lvl="2" marL="914400" marR="783590" rtl="0" algn="ctr">
              <a:spcBef>
                <a:spcPts val="1000"/>
              </a:spcBef>
              <a:spcAft>
                <a:spcPts val="0"/>
              </a:spcAft>
              <a:buNone/>
            </a:pPr>
            <a:r>
              <a:rPr b="0" i="0" lang="en-US" sz="4800" u="none" cap="none" strike="noStrike">
                <a:solidFill>
                  <a:srgbClr val="F2F2F2"/>
                </a:solidFill>
                <a:latin typeface="Open Sans"/>
                <a:ea typeface="Open Sans"/>
                <a:cs typeface="Open Sans"/>
                <a:sym typeface="Open Sans"/>
              </a:rPr>
              <a:t>Neamat Al Sarah, Fahmida Yasmin Rifat, Md. Shohrab Hossain, Husnu S. Narman</a:t>
            </a:r>
            <a:endParaRPr b="0" i="0" sz="48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t/>
            </a:r>
            <a:endParaRPr b="0" i="0" sz="11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t/>
            </a:r>
            <a:endParaRPr b="0" i="0" sz="11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1" i="0" lang="en-US" sz="5400" u="none" cap="none" strike="noStrike">
                <a:solidFill>
                  <a:srgbClr val="F2F2F2"/>
                </a:solidFill>
                <a:latin typeface="Open Sans"/>
                <a:ea typeface="Open Sans"/>
                <a:cs typeface="Open Sans"/>
                <a:sym typeface="Open Sans"/>
              </a:rPr>
              <a:t>MLDroid—framework for Android malware detection using machine learning techniques</a:t>
            </a:r>
            <a:endParaRPr b="1" i="0" sz="54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0" i="0" lang="en-US" sz="4800" u="none" cap="none" strike="noStrike">
                <a:solidFill>
                  <a:srgbClr val="F2F2F2"/>
                </a:solidFill>
                <a:latin typeface="Open Sans"/>
                <a:ea typeface="Open Sans"/>
                <a:cs typeface="Open Sans"/>
                <a:sym typeface="Open Sans"/>
              </a:rPr>
              <a:t>Arvind Mahindru, A. L. Sangal</a:t>
            </a:r>
            <a:endParaRPr b="0" i="0" sz="48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t/>
            </a:r>
            <a:endParaRPr b="0" i="0" sz="54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1" i="0" lang="en-US" sz="5400" u="none" cap="none" strike="noStrike">
                <a:solidFill>
                  <a:srgbClr val="F2F2F2"/>
                </a:solidFill>
                <a:latin typeface="Open Sans"/>
                <a:ea typeface="Open Sans"/>
                <a:cs typeface="Open Sans"/>
                <a:sym typeface="Open Sans"/>
              </a:rPr>
              <a:t>A Survey on Android Malware Detection Techniques Using Machine Learning Algorithms </a:t>
            </a:r>
            <a:endParaRPr/>
          </a:p>
          <a:p>
            <a:pPr indent="0" lvl="2" marL="914400" marR="783590" rtl="0" algn="ctr">
              <a:spcBef>
                <a:spcPts val="1000"/>
              </a:spcBef>
              <a:spcAft>
                <a:spcPts val="0"/>
              </a:spcAft>
              <a:buNone/>
            </a:pPr>
            <a:r>
              <a:rPr b="0" i="0" lang="en-US" sz="4800" u="none" cap="none" strike="noStrike">
                <a:solidFill>
                  <a:srgbClr val="F2F2F2"/>
                </a:solidFill>
                <a:latin typeface="Open Sans"/>
                <a:ea typeface="Open Sans"/>
                <a:cs typeface="Open Sans"/>
                <a:sym typeface="Open Sans"/>
              </a:rPr>
              <a:t>Ebtesam J. Alqahtani; Rachid Zagrouba; Abdullah Almuhaideb</a:t>
            </a:r>
            <a:endParaRPr b="0" i="0" sz="48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t/>
            </a:r>
            <a:endParaRPr b="0" i="0" sz="54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1" i="0" lang="en-US" sz="5400" u="none" cap="none" strike="noStrike">
                <a:solidFill>
                  <a:srgbClr val="F2F2F2"/>
                </a:solidFill>
                <a:latin typeface="Open Sans"/>
                <a:ea typeface="Open Sans"/>
                <a:cs typeface="Open Sans"/>
                <a:sym typeface="Open Sans"/>
              </a:rPr>
              <a:t>Android malware detection through machine learning techniques: A review</a:t>
            </a:r>
            <a:endParaRPr b="1" i="0" sz="5400" u="none" cap="none" strike="noStrike">
              <a:solidFill>
                <a:srgbClr val="F2F2F2"/>
              </a:solidFill>
              <a:latin typeface="Open Sans"/>
              <a:ea typeface="Open Sans"/>
              <a:cs typeface="Open Sans"/>
              <a:sym typeface="Open Sans"/>
            </a:endParaRPr>
          </a:p>
          <a:p>
            <a:pPr indent="0" lvl="2" marL="914400" marR="783590" rtl="0" algn="ctr">
              <a:spcBef>
                <a:spcPts val="1000"/>
              </a:spcBef>
              <a:spcAft>
                <a:spcPts val="0"/>
              </a:spcAft>
              <a:buNone/>
            </a:pPr>
            <a:r>
              <a:rPr b="0" i="0" lang="en-US" sz="4800" u="none" cap="none" strike="noStrike">
                <a:solidFill>
                  <a:srgbClr val="F2F2F2"/>
                </a:solidFill>
                <a:latin typeface="Open Sans"/>
                <a:ea typeface="Open Sans"/>
                <a:cs typeface="Open Sans"/>
                <a:sym typeface="Open Sans"/>
              </a:rPr>
              <a:t>Abikoye Christiana ; Benjamin Gyunka, Akande Noah</a:t>
            </a:r>
            <a:endParaRPr b="0" i="0" sz="4800" u="none" cap="none" strike="noStrike">
              <a:solidFill>
                <a:srgbClr val="F2F2F2"/>
              </a:solidFill>
              <a:latin typeface="Open Sans"/>
              <a:ea typeface="Open Sans"/>
              <a:cs typeface="Open Sans"/>
              <a:sym typeface="Open Sans"/>
            </a:endParaRPr>
          </a:p>
        </p:txBody>
      </p:sp>
      <p:sp>
        <p:nvSpPr>
          <p:cNvPr id="320" name="Google Shape;320;p15"/>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321" name="Google Shape;321;p15"/>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graphicFrame>
        <p:nvGraphicFramePr>
          <p:cNvPr id="327" name="Google Shape;327;p16"/>
          <p:cNvGraphicFramePr/>
          <p:nvPr/>
        </p:nvGraphicFramePr>
        <p:xfrm>
          <a:off x="2136576" y="2933700"/>
          <a:ext cx="3000000" cy="3000000"/>
        </p:xfrm>
        <a:graphic>
          <a:graphicData uri="http://schemas.openxmlformats.org/drawingml/2006/table">
            <a:tbl>
              <a:tblPr bandRow="1" firstCol="1" firstRow="1">
                <a:noFill/>
                <a:tableStyleId>{1B5C8192-B76C-4C4F-A875-58062AF1F6DC}</a:tableStyleId>
              </a:tblPr>
              <a:tblGrid>
                <a:gridCol w="5331025"/>
                <a:gridCol w="8150425"/>
              </a:tblGrid>
              <a:tr h="923750">
                <a:tc>
                  <a:txBody>
                    <a:bodyPr/>
                    <a:lstStyle/>
                    <a:p>
                      <a:pPr indent="0" lvl="0" marL="0" marR="0" rtl="0" algn="ctr">
                        <a:lnSpc>
                          <a:spcPct val="115000"/>
                        </a:lnSpc>
                        <a:spcBef>
                          <a:spcPts val="0"/>
                        </a:spcBef>
                        <a:spcAft>
                          <a:spcPts val="0"/>
                        </a:spcAft>
                        <a:buNone/>
                      </a:pPr>
                      <a:r>
                        <a:rPr b="1" lang="en-US" sz="3600" u="none" cap="none" strike="noStrike">
                          <a:solidFill>
                            <a:srgbClr val="F2F2F2"/>
                          </a:solidFill>
                          <a:latin typeface="Open Sans"/>
                          <a:ea typeface="Open Sans"/>
                          <a:cs typeface="Open Sans"/>
                          <a:sym typeface="Open Sans"/>
                        </a:rPr>
                        <a:t>Dataset</a:t>
                      </a:r>
                      <a:endParaRPr b="1" sz="3600" u="none" cap="none" strike="noStrike">
                        <a:solidFill>
                          <a:srgbClr val="F2F2F2"/>
                        </a:solidFill>
                        <a:latin typeface="Open Sans"/>
                        <a:ea typeface="Open Sans"/>
                        <a:cs typeface="Open Sans"/>
                        <a:sym typeface="Open Sans"/>
                      </a:endParaRPr>
                    </a:p>
                  </a:txBody>
                  <a:tcPr marT="5100" marB="5100" marR="5100" marL="5100">
                    <a:solidFill>
                      <a:srgbClr val="0A1828"/>
                    </a:solidFill>
                  </a:tcPr>
                </a:tc>
                <a:tc>
                  <a:txBody>
                    <a:bodyPr/>
                    <a:lstStyle/>
                    <a:p>
                      <a:pPr indent="0" lvl="0" marL="0" marR="0" rtl="0" algn="ctr">
                        <a:lnSpc>
                          <a:spcPct val="115000"/>
                        </a:lnSpc>
                        <a:spcBef>
                          <a:spcPts val="0"/>
                        </a:spcBef>
                        <a:spcAft>
                          <a:spcPts val="0"/>
                        </a:spcAft>
                        <a:buNone/>
                      </a:pPr>
                      <a:r>
                        <a:rPr lang="en-US" sz="3600" u="none" cap="none" strike="noStrike">
                          <a:solidFill>
                            <a:srgbClr val="F2F2F2"/>
                          </a:solidFill>
                          <a:latin typeface="Open Sans"/>
                          <a:ea typeface="Open Sans"/>
                          <a:cs typeface="Open Sans"/>
                          <a:sym typeface="Open Sans"/>
                        </a:rPr>
                        <a:t>Number of instances</a:t>
                      </a:r>
                      <a:endParaRPr/>
                    </a:p>
                  </a:txBody>
                  <a:tcPr marT="5100" marB="5100" marR="5100" marL="5100">
                    <a:solidFill>
                      <a:srgbClr val="0A1828"/>
                    </a:solidFill>
                  </a:tcPr>
                </a:tc>
              </a:tr>
              <a:tr h="1570000">
                <a:tc>
                  <a:txBody>
                    <a:bodyPr/>
                    <a:lstStyle/>
                    <a:p>
                      <a:pPr indent="0" lvl="0" marL="0" marR="0" rtl="0" algn="ctr">
                        <a:lnSpc>
                          <a:spcPct val="115000"/>
                        </a:lnSpc>
                        <a:spcBef>
                          <a:spcPts val="0"/>
                        </a:spcBef>
                        <a:spcAft>
                          <a:spcPts val="0"/>
                        </a:spcAft>
                        <a:buNone/>
                      </a:pPr>
                      <a:r>
                        <a:rPr b="1" lang="en-US" sz="3600" u="none" cap="none" strike="noStrike">
                          <a:solidFill>
                            <a:srgbClr val="F2F2F2"/>
                          </a:solidFill>
                          <a:latin typeface="Open Sans"/>
                          <a:ea typeface="Open Sans"/>
                          <a:cs typeface="Open Sans"/>
                          <a:sym typeface="Open Sans"/>
                        </a:rPr>
                        <a:t>Android_Permission.csv</a:t>
                      </a:r>
                      <a:endParaRPr/>
                    </a:p>
                  </a:txBody>
                  <a:tcPr marT="46500" marB="46500" marR="5100" marL="5100" anchor="ctr">
                    <a:solidFill>
                      <a:srgbClr val="0A1828"/>
                    </a:solidFill>
                  </a:tcPr>
                </a:tc>
                <a:tc>
                  <a:txBody>
                    <a:bodyPr/>
                    <a:lstStyle/>
                    <a:p>
                      <a:pPr indent="0" lvl="0" marL="0" marR="0" rtl="0" algn="ctr">
                        <a:lnSpc>
                          <a:spcPct val="115000"/>
                        </a:lnSpc>
                        <a:spcBef>
                          <a:spcPts val="0"/>
                        </a:spcBef>
                        <a:spcAft>
                          <a:spcPts val="0"/>
                        </a:spcAft>
                        <a:buClr>
                          <a:srgbClr val="0A1828"/>
                        </a:buClr>
                        <a:buSzPts val="3600"/>
                        <a:buFont typeface="Open Sans"/>
                        <a:buNone/>
                      </a:pPr>
                      <a:r>
                        <a:rPr lang="en-US" sz="3600" u="none" cap="none" strike="noStrike">
                          <a:solidFill>
                            <a:srgbClr val="0A1828"/>
                          </a:solidFill>
                          <a:latin typeface="Open Sans"/>
                          <a:ea typeface="Open Sans"/>
                          <a:cs typeface="Open Sans"/>
                          <a:sym typeface="Open Sans"/>
                        </a:rPr>
                        <a:t>30, 000 apps, 29,999 records</a:t>
                      </a:r>
                      <a:endParaRPr/>
                    </a:p>
                  </a:txBody>
                  <a:tcPr marT="46500" marB="46500" marR="5100" marL="5100"/>
                </a:tc>
              </a:tr>
              <a:tr h="1416525">
                <a:tc>
                  <a:txBody>
                    <a:bodyPr/>
                    <a:lstStyle/>
                    <a:p>
                      <a:pPr indent="0" lvl="0" marL="0" marR="0" rtl="0" algn="ctr">
                        <a:lnSpc>
                          <a:spcPct val="115000"/>
                        </a:lnSpc>
                        <a:spcBef>
                          <a:spcPts val="0"/>
                        </a:spcBef>
                        <a:spcAft>
                          <a:spcPts val="0"/>
                        </a:spcAft>
                        <a:buClr>
                          <a:srgbClr val="F2F2F2"/>
                        </a:buClr>
                        <a:buSzPts val="3600"/>
                        <a:buFont typeface="Open Sans"/>
                        <a:buNone/>
                      </a:pPr>
                      <a:r>
                        <a:rPr b="1" lang="en-US" sz="3600" u="none" cap="none" strike="noStrike">
                          <a:solidFill>
                            <a:srgbClr val="F2F2F2"/>
                          </a:solidFill>
                          <a:latin typeface="Open Sans"/>
                          <a:ea typeface="Open Sans"/>
                          <a:cs typeface="Open Sans"/>
                          <a:sym typeface="Open Sans"/>
                        </a:rPr>
                        <a:t>Malignant</a:t>
                      </a:r>
                      <a:endParaRPr b="1" sz="3600" u="none" cap="none" strike="noStrike">
                        <a:solidFill>
                          <a:srgbClr val="F2F2F2"/>
                        </a:solidFill>
                        <a:latin typeface="Open Sans"/>
                        <a:ea typeface="Open Sans"/>
                        <a:cs typeface="Open Sans"/>
                        <a:sym typeface="Open Sans"/>
                      </a:endParaRPr>
                    </a:p>
                    <a:p>
                      <a:pPr indent="0" lvl="0" marL="0" marR="0" rtl="0" algn="ctr">
                        <a:lnSpc>
                          <a:spcPct val="115000"/>
                        </a:lnSpc>
                        <a:spcBef>
                          <a:spcPts val="800"/>
                        </a:spcBef>
                        <a:spcAft>
                          <a:spcPts val="0"/>
                        </a:spcAft>
                        <a:buNone/>
                      </a:pPr>
                      <a:r>
                        <a:t/>
                      </a:r>
                      <a:endParaRPr sz="3600" u="none" cap="none" strike="noStrike">
                        <a:solidFill>
                          <a:srgbClr val="F2F2F2"/>
                        </a:solidFill>
                        <a:latin typeface="Open Sans"/>
                        <a:ea typeface="Open Sans"/>
                        <a:cs typeface="Open Sans"/>
                        <a:sym typeface="Open Sans"/>
                      </a:endParaRPr>
                    </a:p>
                  </a:txBody>
                  <a:tcPr marT="46500" marB="46500" marR="5100" marL="5100" anchor="ctr">
                    <a:solidFill>
                      <a:srgbClr val="0A1828"/>
                    </a:solidFill>
                  </a:tcPr>
                </a:tc>
                <a:tc>
                  <a:txBody>
                    <a:bodyPr/>
                    <a:lstStyle/>
                    <a:p>
                      <a:pPr indent="0" lvl="0" marL="0" marR="0" rtl="0" algn="ctr">
                        <a:lnSpc>
                          <a:spcPct val="115000"/>
                        </a:lnSpc>
                        <a:spcBef>
                          <a:spcPts val="0"/>
                        </a:spcBef>
                        <a:spcAft>
                          <a:spcPts val="0"/>
                        </a:spcAft>
                        <a:buClr>
                          <a:srgbClr val="0A1828"/>
                        </a:buClr>
                        <a:buSzPts val="3600"/>
                        <a:buFont typeface="Open Sans"/>
                        <a:buNone/>
                      </a:pPr>
                      <a:r>
                        <a:rPr b="0" lang="en-US" sz="3600" u="none" cap="none" strike="noStrike">
                          <a:solidFill>
                            <a:srgbClr val="0A1828"/>
                          </a:solidFill>
                          <a:latin typeface="Open Sans"/>
                          <a:ea typeface="Open Sans"/>
                          <a:cs typeface="Open Sans"/>
                          <a:sym typeface="Open Sans"/>
                        </a:rPr>
                        <a:t>20, 000 apps</a:t>
                      </a:r>
                      <a:endParaRPr/>
                    </a:p>
                  </a:txBody>
                  <a:tcPr marT="46500" marB="46500" marR="5100" marL="5100"/>
                </a:tc>
              </a:tr>
              <a:tr h="1246000">
                <a:tc>
                  <a:txBody>
                    <a:bodyPr/>
                    <a:lstStyle/>
                    <a:p>
                      <a:pPr indent="0" lvl="0" marL="0" marR="0" rtl="0" algn="ctr">
                        <a:lnSpc>
                          <a:spcPct val="115000"/>
                        </a:lnSpc>
                        <a:spcBef>
                          <a:spcPts val="0"/>
                        </a:spcBef>
                        <a:spcAft>
                          <a:spcPts val="0"/>
                        </a:spcAft>
                        <a:buNone/>
                      </a:pPr>
                      <a:r>
                        <a:rPr b="1" lang="en-US" sz="3600" u="none" cap="none" strike="noStrike">
                          <a:solidFill>
                            <a:srgbClr val="F2F2F2"/>
                          </a:solidFill>
                          <a:latin typeface="Open Sans"/>
                          <a:ea typeface="Open Sans"/>
                          <a:cs typeface="Open Sans"/>
                          <a:sym typeface="Open Sans"/>
                        </a:rPr>
                        <a:t>Benign</a:t>
                      </a:r>
                      <a:endParaRPr b="1" sz="3600" u="none" cap="none" strike="noStrike">
                        <a:solidFill>
                          <a:srgbClr val="F2F2F2"/>
                        </a:solidFill>
                        <a:latin typeface="Open Sans"/>
                        <a:ea typeface="Open Sans"/>
                        <a:cs typeface="Open Sans"/>
                        <a:sym typeface="Open Sans"/>
                      </a:endParaRPr>
                    </a:p>
                  </a:txBody>
                  <a:tcPr marT="46500" marB="46500" marR="5100" marL="5100" anchor="ctr">
                    <a:solidFill>
                      <a:srgbClr val="0A1828"/>
                    </a:solidFill>
                  </a:tcPr>
                </a:tc>
                <a:tc>
                  <a:txBody>
                    <a:bodyPr/>
                    <a:lstStyle/>
                    <a:p>
                      <a:pPr indent="0" lvl="0" marL="0" marR="0" rtl="0" algn="ctr">
                        <a:lnSpc>
                          <a:spcPct val="115000"/>
                        </a:lnSpc>
                        <a:spcBef>
                          <a:spcPts val="0"/>
                        </a:spcBef>
                        <a:spcAft>
                          <a:spcPts val="0"/>
                        </a:spcAft>
                        <a:buClr>
                          <a:srgbClr val="0A1828"/>
                        </a:buClr>
                        <a:buSzPts val="3600"/>
                        <a:buFont typeface="Open Sans"/>
                        <a:buNone/>
                      </a:pPr>
                      <a:r>
                        <a:rPr lang="en-US" sz="3600" u="none" cap="none" strike="noStrike">
                          <a:solidFill>
                            <a:srgbClr val="0A1828"/>
                          </a:solidFill>
                          <a:latin typeface="Open Sans"/>
                          <a:ea typeface="Open Sans"/>
                          <a:cs typeface="Open Sans"/>
                          <a:sym typeface="Open Sans"/>
                        </a:rPr>
                        <a:t>9,999</a:t>
                      </a:r>
                      <a:endParaRPr/>
                    </a:p>
                  </a:txBody>
                  <a:tcPr marT="46500" marB="46500" marR="5100" marL="5100"/>
                </a:tc>
              </a:tr>
              <a:tr h="1246000">
                <a:tc>
                  <a:txBody>
                    <a:bodyPr/>
                    <a:lstStyle/>
                    <a:p>
                      <a:pPr indent="0" lvl="0" marL="0" marR="0" rtl="0" algn="ctr">
                        <a:lnSpc>
                          <a:spcPct val="115000"/>
                        </a:lnSpc>
                        <a:spcBef>
                          <a:spcPts val="0"/>
                        </a:spcBef>
                        <a:spcAft>
                          <a:spcPts val="0"/>
                        </a:spcAft>
                        <a:buNone/>
                      </a:pPr>
                      <a:r>
                        <a:rPr b="1" lang="en-US" sz="3600" u="none" cap="none" strike="noStrike">
                          <a:solidFill>
                            <a:srgbClr val="F2F2F2"/>
                          </a:solidFill>
                          <a:latin typeface="Open Sans"/>
                          <a:ea typeface="Open Sans"/>
                          <a:cs typeface="Open Sans"/>
                          <a:sym typeface="Open Sans"/>
                        </a:rPr>
                        <a:t>Features</a:t>
                      </a:r>
                      <a:endParaRPr/>
                    </a:p>
                  </a:txBody>
                  <a:tcPr marT="46500" marB="46500" marR="5100" marL="5100" anchor="ctr">
                    <a:solidFill>
                      <a:srgbClr val="0A1828"/>
                    </a:solidFill>
                  </a:tcPr>
                </a:tc>
                <a:tc>
                  <a:txBody>
                    <a:bodyPr/>
                    <a:lstStyle/>
                    <a:p>
                      <a:pPr indent="0" lvl="0" marL="0" marR="0" rtl="0" algn="ctr">
                        <a:lnSpc>
                          <a:spcPct val="115000"/>
                        </a:lnSpc>
                        <a:spcBef>
                          <a:spcPts val="0"/>
                        </a:spcBef>
                        <a:spcAft>
                          <a:spcPts val="0"/>
                        </a:spcAft>
                        <a:buClr>
                          <a:srgbClr val="0A1828"/>
                        </a:buClr>
                        <a:buSzPts val="3600"/>
                        <a:buFont typeface="Open Sans"/>
                        <a:buNone/>
                      </a:pPr>
                      <a:r>
                        <a:rPr lang="en-US" sz="3600" u="none" cap="none" strike="noStrike">
                          <a:solidFill>
                            <a:srgbClr val="0A1828"/>
                          </a:solidFill>
                          <a:latin typeface="Open Sans"/>
                          <a:ea typeface="Open Sans"/>
                          <a:cs typeface="Open Sans"/>
                          <a:sym typeface="Open Sans"/>
                        </a:rPr>
                        <a:t>183</a:t>
                      </a:r>
                      <a:endParaRPr/>
                    </a:p>
                  </a:txBody>
                  <a:tcPr marT="46500" marB="46500" marR="5100" marL="5100"/>
                </a:tc>
              </a:tr>
            </a:tbl>
          </a:graphicData>
        </a:graphic>
      </p:graphicFrame>
      <p:sp>
        <p:nvSpPr>
          <p:cNvPr id="328" name="Google Shape;328;p16">
            <a:hlinkClick action="ppaction://hlinksldjump" r:id="rId3"/>
          </p:cNvPr>
          <p:cNvSpPr txBox="1"/>
          <p:nvPr/>
        </p:nvSpPr>
        <p:spPr>
          <a:xfrm>
            <a:off x="609600" y="1312880"/>
            <a:ext cx="1623060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DATA PREPROCESSING</a:t>
            </a:r>
            <a:endParaRPr/>
          </a:p>
        </p:txBody>
      </p:sp>
      <p:sp>
        <p:nvSpPr>
          <p:cNvPr id="329" name="Google Shape;329;p16"/>
          <p:cNvSpPr/>
          <p:nvPr/>
        </p:nvSpPr>
        <p:spPr>
          <a:xfrm rot="-5400000">
            <a:off x="4000500" y="-4000500"/>
            <a:ext cx="10286999"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16"/>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31" name="Google Shape;331;p16"/>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CDC-720 Malware Detection and Analysis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pic>
        <p:nvPicPr>
          <p:cNvPr id="337" name="Google Shape;337;p17"/>
          <p:cNvPicPr preferRelativeResize="0"/>
          <p:nvPr/>
        </p:nvPicPr>
        <p:blipFill rotWithShape="1">
          <a:blip r:embed="rId3">
            <a:alphaModFix/>
          </a:blip>
          <a:srcRect b="2884" l="0" r="0" t="0"/>
          <a:stretch/>
        </p:blipFill>
        <p:spPr>
          <a:xfrm>
            <a:off x="945357" y="2524187"/>
            <a:ext cx="8396287" cy="6810313"/>
          </a:xfrm>
          <a:prstGeom prst="rect">
            <a:avLst/>
          </a:prstGeom>
          <a:noFill/>
          <a:ln>
            <a:noFill/>
          </a:ln>
        </p:spPr>
      </p:pic>
      <p:sp>
        <p:nvSpPr>
          <p:cNvPr id="338" name="Google Shape;338;p17">
            <a:hlinkClick action="ppaction://hlinksldjump" r:id="rId4"/>
          </p:cNvPr>
          <p:cNvSpPr txBox="1"/>
          <p:nvPr/>
        </p:nvSpPr>
        <p:spPr>
          <a:xfrm>
            <a:off x="609600" y="1312880"/>
            <a:ext cx="1623060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DATA PREPROCESSING</a:t>
            </a:r>
            <a:endParaRPr/>
          </a:p>
        </p:txBody>
      </p:sp>
      <p:sp>
        <p:nvSpPr>
          <p:cNvPr id="339" name="Google Shape;339;p17"/>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40" name="Google Shape;340;p17"/>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Plot for Missing values and Classification</a:t>
            </a:r>
            <a:endParaRPr/>
          </a:p>
        </p:txBody>
      </p:sp>
      <p:pic>
        <p:nvPicPr>
          <p:cNvPr id="341" name="Google Shape;341;p17"/>
          <p:cNvPicPr preferRelativeResize="0"/>
          <p:nvPr/>
        </p:nvPicPr>
        <p:blipFill rotWithShape="1">
          <a:blip r:embed="rId5">
            <a:alphaModFix/>
          </a:blip>
          <a:srcRect b="2788" l="1644" r="1621" t="0"/>
          <a:stretch/>
        </p:blipFill>
        <p:spPr>
          <a:xfrm>
            <a:off x="9677400" y="2557467"/>
            <a:ext cx="8001000" cy="6810313"/>
          </a:xfrm>
          <a:prstGeom prst="rect">
            <a:avLst/>
          </a:prstGeom>
          <a:noFill/>
          <a:ln>
            <a:noFill/>
          </a:ln>
        </p:spPr>
      </p:pic>
      <p:sp>
        <p:nvSpPr>
          <p:cNvPr id="342" name="Google Shape;342;p17"/>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7" name="Shape 347"/>
        <p:cNvGrpSpPr/>
        <p:nvPr/>
      </p:nvGrpSpPr>
      <p:grpSpPr>
        <a:xfrm>
          <a:off x="0" y="0"/>
          <a:ext cx="0" cy="0"/>
          <a:chOff x="0" y="0"/>
          <a:chExt cx="0" cy="0"/>
        </a:xfrm>
      </p:grpSpPr>
      <p:sp>
        <p:nvSpPr>
          <p:cNvPr id="348" name="Google Shape;348;p18"/>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49" name="Google Shape;349;p18"/>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Plot for each feature</a:t>
            </a:r>
            <a:endParaRPr/>
          </a:p>
        </p:txBody>
      </p:sp>
      <p:pic>
        <p:nvPicPr>
          <p:cNvPr id="350" name="Google Shape;350;p18"/>
          <p:cNvPicPr preferRelativeResize="0"/>
          <p:nvPr/>
        </p:nvPicPr>
        <p:blipFill rotWithShape="1">
          <a:blip r:embed="rId3">
            <a:alphaModFix/>
          </a:blip>
          <a:srcRect b="0" l="0" r="0" t="0"/>
          <a:stretch/>
        </p:blipFill>
        <p:spPr>
          <a:xfrm>
            <a:off x="533401" y="3390900"/>
            <a:ext cx="5562599" cy="5696740"/>
          </a:xfrm>
          <a:prstGeom prst="rect">
            <a:avLst/>
          </a:prstGeom>
          <a:noFill/>
          <a:ln>
            <a:noFill/>
          </a:ln>
        </p:spPr>
      </p:pic>
      <p:pic>
        <p:nvPicPr>
          <p:cNvPr id="351" name="Google Shape;351;p18"/>
          <p:cNvPicPr preferRelativeResize="0"/>
          <p:nvPr/>
        </p:nvPicPr>
        <p:blipFill rotWithShape="1">
          <a:blip r:embed="rId4">
            <a:alphaModFix/>
          </a:blip>
          <a:srcRect b="0" l="0" r="0" t="0"/>
          <a:stretch/>
        </p:blipFill>
        <p:spPr>
          <a:xfrm>
            <a:off x="6248401" y="3902928"/>
            <a:ext cx="5943602" cy="5177628"/>
          </a:xfrm>
          <a:prstGeom prst="rect">
            <a:avLst/>
          </a:prstGeom>
          <a:noFill/>
          <a:ln>
            <a:noFill/>
          </a:ln>
        </p:spPr>
      </p:pic>
      <p:pic>
        <p:nvPicPr>
          <p:cNvPr id="352" name="Google Shape;352;p18"/>
          <p:cNvPicPr preferRelativeResize="0"/>
          <p:nvPr/>
        </p:nvPicPr>
        <p:blipFill rotWithShape="1">
          <a:blip r:embed="rId5">
            <a:alphaModFix/>
          </a:blip>
          <a:srcRect b="0" l="0" r="0" t="0"/>
          <a:stretch/>
        </p:blipFill>
        <p:spPr>
          <a:xfrm>
            <a:off x="12420600" y="3921345"/>
            <a:ext cx="5562599" cy="5196678"/>
          </a:xfrm>
          <a:prstGeom prst="rect">
            <a:avLst/>
          </a:prstGeom>
          <a:noFill/>
          <a:ln>
            <a:noFill/>
          </a:ln>
        </p:spPr>
      </p:pic>
      <p:sp>
        <p:nvSpPr>
          <p:cNvPr id="353" name="Google Shape;353;p18"/>
          <p:cNvSpPr/>
          <p:nvPr/>
        </p:nvSpPr>
        <p:spPr>
          <a:xfrm rot="-5400000">
            <a:off x="3905250" y="-3905250"/>
            <a:ext cx="10477499"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8">
            <a:hlinkClick action="ppaction://hlinksldjump" r:id="rId7"/>
          </p:cNvPr>
          <p:cNvSpPr txBox="1"/>
          <p:nvPr/>
        </p:nvSpPr>
        <p:spPr>
          <a:xfrm>
            <a:off x="609600" y="1312880"/>
            <a:ext cx="1623060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DATA PREPROCESSING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9" name="Shape 359"/>
        <p:cNvGrpSpPr/>
        <p:nvPr/>
      </p:nvGrpSpPr>
      <p:grpSpPr>
        <a:xfrm>
          <a:off x="0" y="0"/>
          <a:ext cx="0" cy="0"/>
          <a:chOff x="0" y="0"/>
          <a:chExt cx="0" cy="0"/>
        </a:xfrm>
      </p:grpSpPr>
      <p:sp>
        <p:nvSpPr>
          <p:cNvPr id="360" name="Google Shape;360;p19">
            <a:hlinkClick action="ppaction://hlinksldjump" r:id="rId3"/>
          </p:cNvPr>
          <p:cNvSpPr txBox="1"/>
          <p:nvPr/>
        </p:nvSpPr>
        <p:spPr>
          <a:xfrm>
            <a:off x="609600" y="1312880"/>
            <a:ext cx="16230600" cy="1200329"/>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None/>
            </a:pPr>
            <a:r>
              <a:rPr lang="en-US" sz="7200">
                <a:solidFill>
                  <a:srgbClr val="0A1828"/>
                </a:solidFill>
                <a:latin typeface="Arial"/>
                <a:ea typeface="Arial"/>
                <a:cs typeface="Arial"/>
                <a:sym typeface="Arial"/>
              </a:rPr>
              <a:t>EXPLORATORY DATA ANALYSIS (EDA)</a:t>
            </a:r>
            <a:endParaRPr/>
          </a:p>
        </p:txBody>
      </p:sp>
      <p:sp>
        <p:nvSpPr>
          <p:cNvPr id="361" name="Google Shape;361;p19"/>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62" name="Google Shape;362;p19"/>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Distribution Plots</a:t>
            </a:r>
            <a:endParaRPr/>
          </a:p>
        </p:txBody>
      </p:sp>
      <p:pic>
        <p:nvPicPr>
          <p:cNvPr id="363" name="Google Shape;363;p19"/>
          <p:cNvPicPr preferRelativeResize="0"/>
          <p:nvPr/>
        </p:nvPicPr>
        <p:blipFill rotWithShape="1">
          <a:blip r:embed="rId4">
            <a:alphaModFix/>
          </a:blip>
          <a:srcRect b="0" l="0" r="0" t="0"/>
          <a:stretch/>
        </p:blipFill>
        <p:spPr>
          <a:xfrm>
            <a:off x="625158" y="3002158"/>
            <a:ext cx="8524875" cy="6568684"/>
          </a:xfrm>
          <a:prstGeom prst="rect">
            <a:avLst/>
          </a:prstGeom>
          <a:noFill/>
          <a:ln>
            <a:noFill/>
          </a:ln>
        </p:spPr>
      </p:pic>
      <p:pic>
        <p:nvPicPr>
          <p:cNvPr id="364" name="Google Shape;364;p19"/>
          <p:cNvPicPr preferRelativeResize="0"/>
          <p:nvPr/>
        </p:nvPicPr>
        <p:blipFill rotWithShape="1">
          <a:blip r:embed="rId5">
            <a:alphaModFix/>
          </a:blip>
          <a:srcRect b="0" l="0" r="0" t="0"/>
          <a:stretch/>
        </p:blipFill>
        <p:spPr>
          <a:xfrm>
            <a:off x="9526191" y="3023052"/>
            <a:ext cx="8380734" cy="6568684"/>
          </a:xfrm>
          <a:prstGeom prst="rect">
            <a:avLst/>
          </a:prstGeom>
          <a:noFill/>
          <a:ln>
            <a:noFill/>
          </a:ln>
        </p:spPr>
      </p:pic>
      <p:sp>
        <p:nvSpPr>
          <p:cNvPr id="365" name="Google Shape;365;p19"/>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 name="Shape 370"/>
        <p:cNvGrpSpPr/>
        <p:nvPr/>
      </p:nvGrpSpPr>
      <p:grpSpPr>
        <a:xfrm>
          <a:off x="0" y="0"/>
          <a:ext cx="0" cy="0"/>
          <a:chOff x="0" y="0"/>
          <a:chExt cx="0" cy="0"/>
        </a:xfrm>
      </p:grpSpPr>
      <p:sp>
        <p:nvSpPr>
          <p:cNvPr id="371" name="Google Shape;371;p20"/>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72" name="Google Shape;372;p20"/>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Relationship Plots</a:t>
            </a:r>
            <a:endParaRPr/>
          </a:p>
        </p:txBody>
      </p:sp>
      <p:pic>
        <p:nvPicPr>
          <p:cNvPr id="373" name="Google Shape;373;p20"/>
          <p:cNvPicPr preferRelativeResize="0"/>
          <p:nvPr/>
        </p:nvPicPr>
        <p:blipFill rotWithShape="1">
          <a:blip r:embed="rId3">
            <a:alphaModFix/>
          </a:blip>
          <a:srcRect b="0" l="0" r="0" t="0"/>
          <a:stretch/>
        </p:blipFill>
        <p:spPr>
          <a:xfrm>
            <a:off x="304801" y="3390901"/>
            <a:ext cx="5791200" cy="5879186"/>
          </a:xfrm>
          <a:prstGeom prst="rect">
            <a:avLst/>
          </a:prstGeom>
          <a:noFill/>
          <a:ln>
            <a:noFill/>
          </a:ln>
        </p:spPr>
      </p:pic>
      <p:pic>
        <p:nvPicPr>
          <p:cNvPr id="374" name="Google Shape;374;p20"/>
          <p:cNvPicPr preferRelativeResize="0"/>
          <p:nvPr/>
        </p:nvPicPr>
        <p:blipFill rotWithShape="1">
          <a:blip r:embed="rId4">
            <a:alphaModFix/>
          </a:blip>
          <a:srcRect b="0" l="0" r="0" t="0"/>
          <a:stretch/>
        </p:blipFill>
        <p:spPr>
          <a:xfrm>
            <a:off x="6248401" y="3390901"/>
            <a:ext cx="5943602" cy="5879185"/>
          </a:xfrm>
          <a:prstGeom prst="rect">
            <a:avLst/>
          </a:prstGeom>
          <a:noFill/>
          <a:ln>
            <a:noFill/>
          </a:ln>
        </p:spPr>
      </p:pic>
      <p:pic>
        <p:nvPicPr>
          <p:cNvPr id="375" name="Google Shape;375;p20"/>
          <p:cNvPicPr preferRelativeResize="0"/>
          <p:nvPr/>
        </p:nvPicPr>
        <p:blipFill rotWithShape="1">
          <a:blip r:embed="rId5">
            <a:alphaModFix/>
          </a:blip>
          <a:srcRect b="0" l="0" r="0" t="0"/>
          <a:stretch/>
        </p:blipFill>
        <p:spPr>
          <a:xfrm>
            <a:off x="12420600" y="3390900"/>
            <a:ext cx="5562599" cy="5879185"/>
          </a:xfrm>
          <a:prstGeom prst="rect">
            <a:avLst/>
          </a:prstGeom>
          <a:noFill/>
          <a:ln>
            <a:noFill/>
          </a:ln>
        </p:spPr>
      </p:pic>
      <p:sp>
        <p:nvSpPr>
          <p:cNvPr id="376" name="Google Shape;376;p20"/>
          <p:cNvSpPr/>
          <p:nvPr/>
        </p:nvSpPr>
        <p:spPr>
          <a:xfrm rot="-5400000">
            <a:off x="4000499" y="-4000501"/>
            <a:ext cx="10287001"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20">
            <a:hlinkClick action="ppaction://hlinksldjump" r:id="rId7"/>
          </p:cNvPr>
          <p:cNvSpPr txBox="1"/>
          <p:nvPr/>
        </p:nvSpPr>
        <p:spPr>
          <a:xfrm>
            <a:off x="609600" y="1312880"/>
            <a:ext cx="16230600" cy="1200329"/>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None/>
            </a:pPr>
            <a:r>
              <a:rPr lang="en-US" sz="7200">
                <a:solidFill>
                  <a:srgbClr val="0A1828"/>
                </a:solidFill>
                <a:latin typeface="Arial"/>
                <a:ea typeface="Arial"/>
                <a:cs typeface="Arial"/>
                <a:sym typeface="Arial"/>
              </a:rPr>
              <a:t>EXPLORATORY DATA ANALYSIS (EDA)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2" name="Shape 382"/>
        <p:cNvGrpSpPr/>
        <p:nvPr/>
      </p:nvGrpSpPr>
      <p:grpSpPr>
        <a:xfrm>
          <a:off x="0" y="0"/>
          <a:ext cx="0" cy="0"/>
          <a:chOff x="0" y="0"/>
          <a:chExt cx="0" cy="0"/>
        </a:xfrm>
      </p:grpSpPr>
      <p:pic>
        <p:nvPicPr>
          <p:cNvPr id="383" name="Google Shape;383;p21"/>
          <p:cNvPicPr preferRelativeResize="0"/>
          <p:nvPr/>
        </p:nvPicPr>
        <p:blipFill rotWithShape="1">
          <a:blip r:embed="rId3">
            <a:alphaModFix/>
          </a:blip>
          <a:srcRect b="0" l="0" r="0" t="0"/>
          <a:stretch/>
        </p:blipFill>
        <p:spPr>
          <a:xfrm>
            <a:off x="823912" y="2019300"/>
            <a:ext cx="16930688" cy="7927202"/>
          </a:xfrm>
          <a:prstGeom prst="rect">
            <a:avLst/>
          </a:prstGeom>
          <a:noFill/>
          <a:ln>
            <a:noFill/>
          </a:ln>
        </p:spPr>
      </p:pic>
      <p:sp>
        <p:nvSpPr>
          <p:cNvPr id="384" name="Google Shape;384;p21">
            <a:hlinkClick action="ppaction://hlinksldjump" r:id="rId4"/>
          </p:cNvPr>
          <p:cNvSpPr txBox="1"/>
          <p:nvPr/>
        </p:nvSpPr>
        <p:spPr>
          <a:xfrm>
            <a:off x="563880" y="1032471"/>
            <a:ext cx="16230600" cy="129266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9600">
                <a:solidFill>
                  <a:srgbClr val="0A1828"/>
                </a:solidFill>
                <a:latin typeface="Arial"/>
                <a:ea typeface="Arial"/>
                <a:cs typeface="Arial"/>
                <a:sym typeface="Arial"/>
              </a:rPr>
              <a:t>PCA PLOTS</a:t>
            </a:r>
            <a:endParaRPr/>
          </a:p>
        </p:txBody>
      </p:sp>
      <p:sp>
        <p:nvSpPr>
          <p:cNvPr id="385" name="Google Shape;385;p21"/>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386" name="Google Shape;386;p21"/>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PCA Plots</a:t>
            </a:r>
            <a:endParaRPr/>
          </a:p>
        </p:txBody>
      </p:sp>
      <p:sp>
        <p:nvSpPr>
          <p:cNvPr id="387" name="Google Shape;387;p21"/>
          <p:cNvSpPr/>
          <p:nvPr/>
        </p:nvSpPr>
        <p:spPr>
          <a:xfrm rot="-5400000">
            <a:off x="4000499" y="-4000501"/>
            <a:ext cx="10287001"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391" name="Shape 391"/>
        <p:cNvGrpSpPr/>
        <p:nvPr/>
      </p:nvGrpSpPr>
      <p:grpSpPr>
        <a:xfrm>
          <a:off x="0" y="0"/>
          <a:ext cx="0" cy="0"/>
          <a:chOff x="0" y="0"/>
          <a:chExt cx="0" cy="0"/>
        </a:xfrm>
      </p:grpSpPr>
      <p:sp>
        <p:nvSpPr>
          <p:cNvPr id="392" name="Google Shape;392;p22"/>
          <p:cNvSpPr/>
          <p:nvPr/>
        </p:nvSpPr>
        <p:spPr>
          <a:xfrm rot="-5400000">
            <a:off x="4000501"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2"/>
          <p:cNvSpPr txBox="1"/>
          <p:nvPr/>
        </p:nvSpPr>
        <p:spPr>
          <a:xfrm>
            <a:off x="1028699" y="3971128"/>
            <a:ext cx="16230600" cy="234474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7448">
                <a:solidFill>
                  <a:srgbClr val="F2F2F2"/>
                </a:solidFill>
                <a:latin typeface="Arial"/>
                <a:ea typeface="Arial"/>
                <a:cs typeface="Arial"/>
                <a:sym typeface="Arial"/>
              </a:rPr>
              <a:t>RESULTS</a:t>
            </a:r>
            <a:endParaRPr/>
          </a:p>
        </p:txBody>
      </p:sp>
      <p:sp>
        <p:nvSpPr>
          <p:cNvPr id="394" name="Google Shape;394;p22"/>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395" name="Google Shape;395;p22"/>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pic>
        <p:nvPicPr>
          <p:cNvPr id="401" name="Google Shape;401;p23"/>
          <p:cNvPicPr preferRelativeResize="0"/>
          <p:nvPr/>
        </p:nvPicPr>
        <p:blipFill rotWithShape="1">
          <a:blip r:embed="rId3">
            <a:alphaModFix/>
          </a:blip>
          <a:srcRect b="0" l="0" r="0" t="0"/>
          <a:stretch/>
        </p:blipFill>
        <p:spPr>
          <a:xfrm>
            <a:off x="6" y="-33475"/>
            <a:ext cx="2285988" cy="10320475"/>
          </a:xfrm>
          <a:prstGeom prst="rect">
            <a:avLst/>
          </a:prstGeom>
          <a:noFill/>
          <a:ln>
            <a:noFill/>
          </a:ln>
        </p:spPr>
      </p:pic>
      <p:sp>
        <p:nvSpPr>
          <p:cNvPr id="402" name="Google Shape;402;p23">
            <a:hlinkClick action="ppaction://hlinksldjump" r:id="rId4"/>
          </p:cNvPr>
          <p:cNvSpPr txBox="1"/>
          <p:nvPr/>
        </p:nvSpPr>
        <p:spPr>
          <a:xfrm rot="-5400000">
            <a:off x="-4040188" y="4125585"/>
            <a:ext cx="10320475" cy="123110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000">
                <a:solidFill>
                  <a:srgbClr val="F2F2F2"/>
                </a:solidFill>
                <a:latin typeface="Arial"/>
                <a:ea typeface="Arial"/>
                <a:cs typeface="Arial"/>
                <a:sym typeface="Arial"/>
              </a:rPr>
              <a:t>PREVIOUS RESULTS</a:t>
            </a:r>
            <a:endParaRPr/>
          </a:p>
        </p:txBody>
      </p:sp>
      <p:sp>
        <p:nvSpPr>
          <p:cNvPr id="403" name="Google Shape;403;p23"/>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pic>
        <p:nvPicPr>
          <p:cNvPr id="404" name="Google Shape;404;p23"/>
          <p:cNvPicPr preferRelativeResize="0"/>
          <p:nvPr/>
        </p:nvPicPr>
        <p:blipFill rotWithShape="1">
          <a:blip r:embed="rId5">
            <a:alphaModFix/>
          </a:blip>
          <a:srcRect b="0" l="0" r="0" t="0"/>
          <a:stretch/>
        </p:blipFill>
        <p:spPr>
          <a:xfrm>
            <a:off x="2790496" y="2247901"/>
            <a:ext cx="7302018" cy="6705600"/>
          </a:xfrm>
          <a:prstGeom prst="rect">
            <a:avLst/>
          </a:prstGeom>
          <a:noFill/>
          <a:ln>
            <a:noFill/>
          </a:ln>
        </p:spPr>
      </p:pic>
      <p:pic>
        <p:nvPicPr>
          <p:cNvPr id="405" name="Google Shape;405;p23"/>
          <p:cNvPicPr preferRelativeResize="0"/>
          <p:nvPr/>
        </p:nvPicPr>
        <p:blipFill rotWithShape="1">
          <a:blip r:embed="rId6">
            <a:alphaModFix/>
          </a:blip>
          <a:srcRect b="0" l="0" r="0" t="0"/>
          <a:stretch/>
        </p:blipFill>
        <p:spPr>
          <a:xfrm>
            <a:off x="10597010" y="2247902"/>
            <a:ext cx="6970107" cy="6705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0" name="Shape 410"/>
        <p:cNvGrpSpPr/>
        <p:nvPr/>
      </p:nvGrpSpPr>
      <p:grpSpPr>
        <a:xfrm>
          <a:off x="0" y="0"/>
          <a:ext cx="0" cy="0"/>
          <a:chOff x="0" y="0"/>
          <a:chExt cx="0" cy="0"/>
        </a:xfrm>
      </p:grpSpPr>
      <p:pic>
        <p:nvPicPr>
          <p:cNvPr id="411" name="Google Shape;411;p24"/>
          <p:cNvPicPr preferRelativeResize="0"/>
          <p:nvPr/>
        </p:nvPicPr>
        <p:blipFill rotWithShape="1">
          <a:blip r:embed="rId3">
            <a:alphaModFix/>
          </a:blip>
          <a:srcRect b="0" l="0" r="0" t="0"/>
          <a:stretch/>
        </p:blipFill>
        <p:spPr>
          <a:xfrm>
            <a:off x="6" y="-33475"/>
            <a:ext cx="2285988" cy="10320475"/>
          </a:xfrm>
          <a:prstGeom prst="rect">
            <a:avLst/>
          </a:prstGeom>
          <a:noFill/>
          <a:ln>
            <a:noFill/>
          </a:ln>
        </p:spPr>
      </p:pic>
      <p:sp>
        <p:nvSpPr>
          <p:cNvPr id="412" name="Google Shape;412;p24">
            <a:hlinkClick action="ppaction://hlinksldjump" r:id="rId4"/>
          </p:cNvPr>
          <p:cNvSpPr txBox="1"/>
          <p:nvPr/>
        </p:nvSpPr>
        <p:spPr>
          <a:xfrm rot="-5400000">
            <a:off x="-4017237" y="4511209"/>
            <a:ext cx="10320475" cy="123110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PREVIOUS RESULTS</a:t>
            </a:r>
            <a:endParaRPr/>
          </a:p>
        </p:txBody>
      </p:sp>
      <p:sp>
        <p:nvSpPr>
          <p:cNvPr id="413" name="Google Shape;413;p24"/>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pic>
        <p:nvPicPr>
          <p:cNvPr id="414" name="Google Shape;414;p24"/>
          <p:cNvPicPr preferRelativeResize="0"/>
          <p:nvPr/>
        </p:nvPicPr>
        <p:blipFill rotWithShape="1">
          <a:blip r:embed="rId5">
            <a:alphaModFix/>
          </a:blip>
          <a:srcRect b="0" l="0" r="0" t="0"/>
          <a:stretch/>
        </p:blipFill>
        <p:spPr>
          <a:xfrm>
            <a:off x="4070033" y="857607"/>
            <a:ext cx="12434887" cy="4285893"/>
          </a:xfrm>
          <a:prstGeom prst="rect">
            <a:avLst/>
          </a:prstGeom>
          <a:noFill/>
          <a:ln>
            <a:noFill/>
          </a:ln>
        </p:spPr>
      </p:pic>
      <p:pic>
        <p:nvPicPr>
          <p:cNvPr id="415" name="Google Shape;415;p24"/>
          <p:cNvPicPr preferRelativeResize="0"/>
          <p:nvPr/>
        </p:nvPicPr>
        <p:blipFill rotWithShape="1">
          <a:blip r:embed="rId6">
            <a:alphaModFix/>
          </a:blip>
          <a:srcRect b="0" l="0" r="0" t="0"/>
          <a:stretch/>
        </p:blipFill>
        <p:spPr>
          <a:xfrm>
            <a:off x="4038600" y="5126761"/>
            <a:ext cx="12404407" cy="5158740"/>
          </a:xfrm>
          <a:prstGeom prst="rect">
            <a:avLst/>
          </a:prstGeom>
          <a:noFill/>
          <a:ln>
            <a:noFill/>
          </a:ln>
        </p:spPr>
      </p:pic>
      <p:sp>
        <p:nvSpPr>
          <p:cNvPr id="416" name="Google Shape;416;p24"/>
          <p:cNvSpPr/>
          <p:nvPr/>
        </p:nvSpPr>
        <p:spPr>
          <a:xfrm>
            <a:off x="4237673" y="2979420"/>
            <a:ext cx="12373927" cy="83820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417" name="Google Shape;417;p24"/>
          <p:cNvSpPr/>
          <p:nvPr/>
        </p:nvSpPr>
        <p:spPr>
          <a:xfrm>
            <a:off x="4222433" y="2095500"/>
            <a:ext cx="12373927" cy="8382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24"/>
          <p:cNvSpPr/>
          <p:nvPr/>
        </p:nvSpPr>
        <p:spPr>
          <a:xfrm>
            <a:off x="4237673" y="3865651"/>
            <a:ext cx="12373927" cy="1253490"/>
          </a:xfrm>
          <a:prstGeom prst="rect">
            <a:avLst/>
          </a:prstGeom>
          <a:noFill/>
          <a:ln cap="flat" cmpd="sng" w="76200">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828"/>
        </a:solidFill>
      </p:bgPr>
    </p:bg>
    <p:spTree>
      <p:nvGrpSpPr>
        <p:cNvPr id="422" name="Shape 422"/>
        <p:cNvGrpSpPr/>
        <p:nvPr/>
      </p:nvGrpSpPr>
      <p:grpSpPr>
        <a:xfrm>
          <a:off x="0" y="0"/>
          <a:ext cx="0" cy="0"/>
          <a:chOff x="0" y="0"/>
          <a:chExt cx="0" cy="0"/>
        </a:xfrm>
      </p:grpSpPr>
      <p:sp>
        <p:nvSpPr>
          <p:cNvPr id="423" name="Google Shape;423;p25"/>
          <p:cNvSpPr/>
          <p:nvPr/>
        </p:nvSpPr>
        <p:spPr>
          <a:xfrm rot="-5400000">
            <a:off x="4000500" y="-4000500"/>
            <a:ext cx="10287000" cy="18288000"/>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5"/>
          <p:cNvSpPr txBox="1"/>
          <p:nvPr/>
        </p:nvSpPr>
        <p:spPr>
          <a:xfrm>
            <a:off x="1028699" y="3592179"/>
            <a:ext cx="16230600" cy="45761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7448">
                <a:solidFill>
                  <a:srgbClr val="F2F2F2"/>
                </a:solidFill>
                <a:latin typeface="Arial"/>
                <a:ea typeface="Arial"/>
                <a:cs typeface="Arial"/>
                <a:sym typeface="Arial"/>
              </a:rPr>
              <a:t>IMPROVED RESULTS</a:t>
            </a:r>
            <a:endParaRPr/>
          </a:p>
        </p:txBody>
      </p:sp>
      <p:sp>
        <p:nvSpPr>
          <p:cNvPr id="425" name="Google Shape;425;p25"/>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Android Malware Detection System</a:t>
            </a:r>
            <a:endParaRPr/>
          </a:p>
        </p:txBody>
      </p:sp>
      <p:sp>
        <p:nvSpPr>
          <p:cNvPr id="426" name="Google Shape;426;p25"/>
          <p:cNvSpPr txBox="1"/>
          <p:nvPr/>
        </p:nvSpPr>
        <p:spPr>
          <a:xfrm>
            <a:off x="533400" y="9563100"/>
            <a:ext cx="68580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F2F2F2"/>
                </a:solidFill>
                <a:latin typeface="Open Sans"/>
                <a:ea typeface="Open Sans"/>
                <a:cs typeface="Open Sans"/>
                <a:sym typeface="Open Sans"/>
              </a:rPr>
              <a:t>CDC-720 Malware Detection and Analysis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 name="Shape 431"/>
        <p:cNvGrpSpPr/>
        <p:nvPr/>
      </p:nvGrpSpPr>
      <p:grpSpPr>
        <a:xfrm>
          <a:off x="0" y="0"/>
          <a:ext cx="0" cy="0"/>
          <a:chOff x="0" y="0"/>
          <a:chExt cx="0" cy="0"/>
        </a:xfrm>
      </p:grpSpPr>
      <p:pic>
        <p:nvPicPr>
          <p:cNvPr id="432" name="Google Shape;432;p26"/>
          <p:cNvPicPr preferRelativeResize="0"/>
          <p:nvPr/>
        </p:nvPicPr>
        <p:blipFill rotWithShape="1">
          <a:blip r:embed="rId3">
            <a:alphaModFix/>
          </a:blip>
          <a:srcRect b="0" l="0" r="0" t="0"/>
          <a:stretch/>
        </p:blipFill>
        <p:spPr>
          <a:xfrm>
            <a:off x="0" y="-33475"/>
            <a:ext cx="3352800" cy="10320475"/>
          </a:xfrm>
          <a:prstGeom prst="rect">
            <a:avLst/>
          </a:prstGeom>
          <a:noFill/>
          <a:ln>
            <a:noFill/>
          </a:ln>
        </p:spPr>
      </p:pic>
      <p:sp>
        <p:nvSpPr>
          <p:cNvPr id="433" name="Google Shape;433;p26">
            <a:hlinkClick action="ppaction://hlinksldjump" r:id="rId4"/>
          </p:cNvPr>
          <p:cNvSpPr txBox="1"/>
          <p:nvPr/>
        </p:nvSpPr>
        <p:spPr>
          <a:xfrm rot="-5400000">
            <a:off x="-3395731" y="3827076"/>
            <a:ext cx="10320475" cy="246221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CLASS DISTRIBUTION PLOTS</a:t>
            </a:r>
            <a:endParaRPr/>
          </a:p>
        </p:txBody>
      </p:sp>
      <p:sp>
        <p:nvSpPr>
          <p:cNvPr id="434" name="Google Shape;434;p26"/>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pic>
        <p:nvPicPr>
          <p:cNvPr id="435" name="Google Shape;435;p26"/>
          <p:cNvPicPr preferRelativeResize="0"/>
          <p:nvPr/>
        </p:nvPicPr>
        <p:blipFill rotWithShape="1">
          <a:blip r:embed="rId5">
            <a:alphaModFix/>
          </a:blip>
          <a:srcRect b="0" l="0" r="0" t="0"/>
          <a:stretch/>
        </p:blipFill>
        <p:spPr>
          <a:xfrm>
            <a:off x="3352800" y="2997400"/>
            <a:ext cx="5163841" cy="5498899"/>
          </a:xfrm>
          <a:prstGeom prst="rect">
            <a:avLst/>
          </a:prstGeom>
          <a:noFill/>
          <a:ln>
            <a:noFill/>
          </a:ln>
        </p:spPr>
      </p:pic>
      <p:pic>
        <p:nvPicPr>
          <p:cNvPr id="436" name="Google Shape;436;p26"/>
          <p:cNvPicPr preferRelativeResize="0"/>
          <p:nvPr/>
        </p:nvPicPr>
        <p:blipFill rotWithShape="1">
          <a:blip r:embed="rId6">
            <a:alphaModFix/>
          </a:blip>
          <a:srcRect b="0" l="0" r="0" t="0"/>
          <a:stretch/>
        </p:blipFill>
        <p:spPr>
          <a:xfrm>
            <a:off x="8229600" y="3020261"/>
            <a:ext cx="5165149" cy="5476038"/>
          </a:xfrm>
          <a:prstGeom prst="rect">
            <a:avLst/>
          </a:prstGeom>
          <a:noFill/>
          <a:ln>
            <a:noFill/>
          </a:ln>
        </p:spPr>
      </p:pic>
      <p:pic>
        <p:nvPicPr>
          <p:cNvPr id="437" name="Google Shape;437;p26"/>
          <p:cNvPicPr preferRelativeResize="0"/>
          <p:nvPr/>
        </p:nvPicPr>
        <p:blipFill rotWithShape="1">
          <a:blip r:embed="rId7">
            <a:alphaModFix/>
          </a:blip>
          <a:srcRect b="0" l="0" r="0" t="0"/>
          <a:stretch/>
        </p:blipFill>
        <p:spPr>
          <a:xfrm>
            <a:off x="12999208" y="2997401"/>
            <a:ext cx="5163841" cy="54988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42" name="Shape 442"/>
        <p:cNvGrpSpPr/>
        <p:nvPr/>
      </p:nvGrpSpPr>
      <p:grpSpPr>
        <a:xfrm>
          <a:off x="0" y="0"/>
          <a:ext cx="0" cy="0"/>
          <a:chOff x="0" y="0"/>
          <a:chExt cx="0" cy="0"/>
        </a:xfrm>
      </p:grpSpPr>
      <p:pic>
        <p:nvPicPr>
          <p:cNvPr id="443" name="Google Shape;443;p27"/>
          <p:cNvPicPr preferRelativeResize="0"/>
          <p:nvPr/>
        </p:nvPicPr>
        <p:blipFill rotWithShape="1">
          <a:blip r:embed="rId3">
            <a:alphaModFix/>
          </a:blip>
          <a:srcRect b="0" l="0" r="0" t="0"/>
          <a:stretch/>
        </p:blipFill>
        <p:spPr>
          <a:xfrm>
            <a:off x="0" y="-33475"/>
            <a:ext cx="3352800" cy="10320475"/>
          </a:xfrm>
          <a:prstGeom prst="rect">
            <a:avLst/>
          </a:prstGeom>
          <a:noFill/>
          <a:ln>
            <a:noFill/>
          </a:ln>
        </p:spPr>
      </p:pic>
      <p:sp>
        <p:nvSpPr>
          <p:cNvPr id="444" name="Google Shape;444;p27">
            <a:hlinkClick action="ppaction://hlinksldjump" r:id="rId4"/>
          </p:cNvPr>
          <p:cNvSpPr txBox="1"/>
          <p:nvPr/>
        </p:nvSpPr>
        <p:spPr>
          <a:xfrm rot="-5400000">
            <a:off x="-3395731" y="3827076"/>
            <a:ext cx="10320475" cy="246221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ALGORITHMS APPLIED</a:t>
            </a:r>
            <a:endParaRPr/>
          </a:p>
        </p:txBody>
      </p:sp>
      <p:sp>
        <p:nvSpPr>
          <p:cNvPr id="445" name="Google Shape;445;p27"/>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446" name="Google Shape;446;p27"/>
          <p:cNvSpPr/>
          <p:nvPr/>
        </p:nvSpPr>
        <p:spPr>
          <a:xfrm>
            <a:off x="5505888" y="2218696"/>
            <a:ext cx="3727236" cy="7496803"/>
          </a:xfrm>
          <a:prstGeom prst="rect">
            <a:avLst/>
          </a:prstGeom>
          <a:solidFill>
            <a:srgbClr val="0A1828"/>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7" name="Google Shape;447;p27"/>
          <p:cNvSpPr txBox="1"/>
          <p:nvPr/>
        </p:nvSpPr>
        <p:spPr>
          <a:xfrm>
            <a:off x="4891534" y="999412"/>
            <a:ext cx="5082492" cy="1226904"/>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en-US" sz="3200">
                <a:solidFill>
                  <a:srgbClr val="0A1828"/>
                </a:solidFill>
                <a:latin typeface="Open Sans"/>
                <a:ea typeface="Open Sans"/>
                <a:cs typeface="Open Sans"/>
                <a:sym typeface="Open Sans"/>
              </a:rPr>
              <a:t>Already Implemented Algorithms</a:t>
            </a:r>
            <a:endParaRPr sz="3200">
              <a:solidFill>
                <a:srgbClr val="0A1828"/>
              </a:solidFill>
              <a:latin typeface="Open Sans"/>
              <a:ea typeface="Open Sans"/>
              <a:cs typeface="Open Sans"/>
              <a:sym typeface="Open Sans"/>
            </a:endParaRPr>
          </a:p>
        </p:txBody>
      </p:sp>
      <p:sp>
        <p:nvSpPr>
          <p:cNvPr id="448" name="Google Shape;448;p27"/>
          <p:cNvSpPr/>
          <p:nvPr/>
        </p:nvSpPr>
        <p:spPr>
          <a:xfrm>
            <a:off x="5749671" y="3103709"/>
            <a:ext cx="3254853" cy="153687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C00000"/>
                </a:solidFill>
                <a:highlight>
                  <a:srgbClr val="F7F7F7"/>
                </a:highlight>
                <a:latin typeface="Open Sans"/>
                <a:ea typeface="Open Sans"/>
                <a:cs typeface="Open Sans"/>
                <a:sym typeface="Open Sans"/>
              </a:rPr>
              <a:t>Logistic Regression</a:t>
            </a:r>
            <a:endParaRPr sz="3600">
              <a:solidFill>
                <a:srgbClr val="C00000"/>
              </a:solidFill>
              <a:latin typeface="Open Sans"/>
              <a:ea typeface="Open Sans"/>
              <a:cs typeface="Open Sans"/>
              <a:sym typeface="Open Sans"/>
            </a:endParaRPr>
          </a:p>
        </p:txBody>
      </p:sp>
      <p:sp>
        <p:nvSpPr>
          <p:cNvPr id="449" name="Google Shape;449;p27"/>
          <p:cNvSpPr/>
          <p:nvPr/>
        </p:nvSpPr>
        <p:spPr>
          <a:xfrm>
            <a:off x="5749671" y="5198662"/>
            <a:ext cx="3254853" cy="153687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C00000"/>
                </a:solidFill>
                <a:highlight>
                  <a:srgbClr val="F7F7F7"/>
                </a:highlight>
                <a:latin typeface="Open Sans"/>
                <a:ea typeface="Open Sans"/>
                <a:cs typeface="Open Sans"/>
                <a:sym typeface="Open Sans"/>
              </a:rPr>
              <a:t>Decision Trees </a:t>
            </a:r>
            <a:endParaRPr sz="3600">
              <a:solidFill>
                <a:srgbClr val="C00000"/>
              </a:solidFill>
              <a:latin typeface="Open Sans"/>
              <a:ea typeface="Open Sans"/>
              <a:cs typeface="Open Sans"/>
              <a:sym typeface="Open Sans"/>
            </a:endParaRPr>
          </a:p>
        </p:txBody>
      </p:sp>
      <p:sp>
        <p:nvSpPr>
          <p:cNvPr id="450" name="Google Shape;450;p27"/>
          <p:cNvSpPr/>
          <p:nvPr/>
        </p:nvSpPr>
        <p:spPr>
          <a:xfrm>
            <a:off x="5749671" y="7301235"/>
            <a:ext cx="3254853" cy="153687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C00000"/>
                </a:solidFill>
                <a:highlight>
                  <a:srgbClr val="F7F7F7"/>
                </a:highlight>
                <a:latin typeface="Open Sans"/>
                <a:ea typeface="Open Sans"/>
                <a:cs typeface="Open Sans"/>
                <a:sym typeface="Open Sans"/>
              </a:rPr>
              <a:t>Naïve Bayes</a:t>
            </a:r>
            <a:endParaRPr sz="3600">
              <a:solidFill>
                <a:srgbClr val="C00000"/>
              </a:solidFill>
              <a:latin typeface="Open Sans"/>
              <a:ea typeface="Open Sans"/>
              <a:cs typeface="Open Sans"/>
              <a:sym typeface="Open Sans"/>
            </a:endParaRPr>
          </a:p>
        </p:txBody>
      </p:sp>
      <p:sp>
        <p:nvSpPr>
          <p:cNvPr id="451" name="Google Shape;451;p27"/>
          <p:cNvSpPr/>
          <p:nvPr/>
        </p:nvSpPr>
        <p:spPr>
          <a:xfrm>
            <a:off x="12190888" y="2218696"/>
            <a:ext cx="3727236" cy="7496803"/>
          </a:xfrm>
          <a:prstGeom prst="rect">
            <a:avLst/>
          </a:prstGeom>
          <a:solidFill>
            <a:srgbClr val="0A1828"/>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 name="Google Shape;452;p27">
            <a:hlinkClick action="ppaction://hlinksldjump" r:id="rId5"/>
          </p:cNvPr>
          <p:cNvSpPr/>
          <p:nvPr/>
        </p:nvSpPr>
        <p:spPr>
          <a:xfrm>
            <a:off x="12455271" y="2661203"/>
            <a:ext cx="3254853" cy="1979377"/>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Support Vector Machines (SVM)</a:t>
            </a:r>
            <a:endParaRPr sz="3600">
              <a:solidFill>
                <a:srgbClr val="0A1828"/>
              </a:solidFill>
              <a:latin typeface="Open Sans"/>
              <a:ea typeface="Open Sans"/>
              <a:cs typeface="Open Sans"/>
              <a:sym typeface="Open Sans"/>
            </a:endParaRPr>
          </a:p>
        </p:txBody>
      </p:sp>
      <p:sp>
        <p:nvSpPr>
          <p:cNvPr id="453" name="Google Shape;453;p27">
            <a:hlinkClick action="ppaction://hlinksldjump" r:id="rId6"/>
          </p:cNvPr>
          <p:cNvSpPr/>
          <p:nvPr/>
        </p:nvSpPr>
        <p:spPr>
          <a:xfrm>
            <a:off x="12455271" y="5058182"/>
            <a:ext cx="3254853" cy="1979377"/>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Multi Layer Perception (MLP)</a:t>
            </a:r>
            <a:endParaRPr sz="3600">
              <a:solidFill>
                <a:srgbClr val="0A1828"/>
              </a:solidFill>
              <a:latin typeface="Open Sans"/>
              <a:ea typeface="Open Sans"/>
              <a:cs typeface="Open Sans"/>
              <a:sym typeface="Open Sans"/>
            </a:endParaRPr>
          </a:p>
        </p:txBody>
      </p:sp>
      <p:sp>
        <p:nvSpPr>
          <p:cNvPr id="454" name="Google Shape;454;p27"/>
          <p:cNvSpPr/>
          <p:nvPr/>
        </p:nvSpPr>
        <p:spPr>
          <a:xfrm>
            <a:off x="12455271" y="7301235"/>
            <a:ext cx="3254853" cy="153687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Random Forest (RF)</a:t>
            </a:r>
            <a:endParaRPr sz="3600">
              <a:solidFill>
                <a:srgbClr val="0A1828"/>
              </a:solidFill>
              <a:latin typeface="Open Sans"/>
              <a:ea typeface="Open Sans"/>
              <a:cs typeface="Open Sans"/>
              <a:sym typeface="Open Sans"/>
            </a:endParaRPr>
          </a:p>
        </p:txBody>
      </p:sp>
      <p:sp>
        <p:nvSpPr>
          <p:cNvPr id="455" name="Google Shape;455;p27"/>
          <p:cNvSpPr txBox="1"/>
          <p:nvPr/>
        </p:nvSpPr>
        <p:spPr>
          <a:xfrm>
            <a:off x="11452908" y="1434299"/>
            <a:ext cx="5082492" cy="1226904"/>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en-US" sz="3200">
                <a:solidFill>
                  <a:srgbClr val="0A1828"/>
                </a:solidFill>
                <a:latin typeface="Open Sans"/>
                <a:ea typeface="Open Sans"/>
                <a:cs typeface="Open Sans"/>
                <a:sym typeface="Open Sans"/>
              </a:rPr>
              <a:t>New Algorithms</a:t>
            </a:r>
            <a:endParaRPr sz="3200">
              <a:solidFill>
                <a:srgbClr val="0A1828"/>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0" name="Shape 460"/>
        <p:cNvGrpSpPr/>
        <p:nvPr/>
      </p:nvGrpSpPr>
      <p:grpSpPr>
        <a:xfrm>
          <a:off x="0" y="0"/>
          <a:ext cx="0" cy="0"/>
          <a:chOff x="0" y="0"/>
          <a:chExt cx="0" cy="0"/>
        </a:xfrm>
      </p:grpSpPr>
      <p:pic>
        <p:nvPicPr>
          <p:cNvPr id="461" name="Google Shape;461;p28"/>
          <p:cNvPicPr preferRelativeResize="0"/>
          <p:nvPr/>
        </p:nvPicPr>
        <p:blipFill rotWithShape="1">
          <a:blip r:embed="rId3">
            <a:alphaModFix/>
          </a:blip>
          <a:srcRect b="0" l="0" r="0" t="0"/>
          <a:stretch/>
        </p:blipFill>
        <p:spPr>
          <a:xfrm>
            <a:off x="6" y="-33475"/>
            <a:ext cx="2285988" cy="10320475"/>
          </a:xfrm>
          <a:prstGeom prst="rect">
            <a:avLst/>
          </a:prstGeom>
          <a:noFill/>
          <a:ln>
            <a:noFill/>
          </a:ln>
        </p:spPr>
      </p:pic>
      <p:sp>
        <p:nvSpPr>
          <p:cNvPr id="462" name="Google Shape;462;p28">
            <a:hlinkClick action="ppaction://hlinksldjump" r:id="rId4"/>
          </p:cNvPr>
          <p:cNvSpPr txBox="1"/>
          <p:nvPr/>
        </p:nvSpPr>
        <p:spPr>
          <a:xfrm rot="-5400000">
            <a:off x="-4040188" y="4125585"/>
            <a:ext cx="10320475" cy="123110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NEW RESULTS</a:t>
            </a:r>
            <a:endParaRPr/>
          </a:p>
        </p:txBody>
      </p:sp>
      <p:sp>
        <p:nvSpPr>
          <p:cNvPr id="463" name="Google Shape;463;p28"/>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pic>
        <p:nvPicPr>
          <p:cNvPr id="464" name="Google Shape;464;p28"/>
          <p:cNvPicPr preferRelativeResize="0"/>
          <p:nvPr/>
        </p:nvPicPr>
        <p:blipFill rotWithShape="1">
          <a:blip r:embed="rId5">
            <a:alphaModFix/>
          </a:blip>
          <a:srcRect b="0" l="0" r="0" t="0"/>
          <a:stretch/>
        </p:blipFill>
        <p:spPr>
          <a:xfrm>
            <a:off x="2790496" y="2247902"/>
            <a:ext cx="7302018" cy="6705600"/>
          </a:xfrm>
          <a:prstGeom prst="rect">
            <a:avLst/>
          </a:prstGeom>
          <a:noFill/>
          <a:ln>
            <a:noFill/>
          </a:ln>
        </p:spPr>
      </p:pic>
      <p:pic>
        <p:nvPicPr>
          <p:cNvPr id="465" name="Google Shape;465;p28"/>
          <p:cNvPicPr preferRelativeResize="0"/>
          <p:nvPr/>
        </p:nvPicPr>
        <p:blipFill rotWithShape="1">
          <a:blip r:embed="rId6">
            <a:alphaModFix/>
          </a:blip>
          <a:srcRect b="0" l="0" r="0" t="0"/>
          <a:stretch/>
        </p:blipFill>
        <p:spPr>
          <a:xfrm>
            <a:off x="10597010" y="2247902"/>
            <a:ext cx="6970107" cy="6705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0" name="Shape 470"/>
        <p:cNvGrpSpPr/>
        <p:nvPr/>
      </p:nvGrpSpPr>
      <p:grpSpPr>
        <a:xfrm>
          <a:off x="0" y="0"/>
          <a:ext cx="0" cy="0"/>
          <a:chOff x="0" y="0"/>
          <a:chExt cx="0" cy="0"/>
        </a:xfrm>
      </p:grpSpPr>
      <p:pic>
        <p:nvPicPr>
          <p:cNvPr id="471" name="Google Shape;471;p29">
            <a:hlinkClick action="ppaction://hlinksldjump" r:id="rId3"/>
          </p:cNvPr>
          <p:cNvPicPr preferRelativeResize="0"/>
          <p:nvPr/>
        </p:nvPicPr>
        <p:blipFill rotWithShape="1">
          <a:blip r:embed="rId4">
            <a:alphaModFix/>
          </a:blip>
          <a:srcRect b="0" l="0" r="0" t="0"/>
          <a:stretch/>
        </p:blipFill>
        <p:spPr>
          <a:xfrm>
            <a:off x="0" y="-1"/>
            <a:ext cx="2286000" cy="10320475"/>
          </a:xfrm>
          <a:prstGeom prst="rect">
            <a:avLst/>
          </a:prstGeom>
          <a:solidFill>
            <a:srgbClr val="0A1828"/>
          </a:solidFill>
          <a:ln>
            <a:noFill/>
          </a:ln>
        </p:spPr>
      </p:pic>
      <p:sp>
        <p:nvSpPr>
          <p:cNvPr id="472" name="Google Shape;472;p29">
            <a:hlinkClick action="ppaction://hlinksldjump" r:id="rId5"/>
          </p:cNvPr>
          <p:cNvSpPr txBox="1"/>
          <p:nvPr/>
        </p:nvSpPr>
        <p:spPr>
          <a:xfrm rot="-5400000">
            <a:off x="-4017237" y="4511210"/>
            <a:ext cx="10320475" cy="1231106"/>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NEW RESULTS</a:t>
            </a:r>
            <a:endParaRPr/>
          </a:p>
        </p:txBody>
      </p:sp>
      <p:sp>
        <p:nvSpPr>
          <p:cNvPr id="473" name="Google Shape;473;p29"/>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pic>
        <p:nvPicPr>
          <p:cNvPr id="474" name="Google Shape;474;p29"/>
          <p:cNvPicPr preferRelativeResize="0"/>
          <p:nvPr/>
        </p:nvPicPr>
        <p:blipFill rotWithShape="1">
          <a:blip r:embed="rId6">
            <a:alphaModFix/>
          </a:blip>
          <a:srcRect b="0" l="0" r="0" t="0"/>
          <a:stretch/>
        </p:blipFill>
        <p:spPr>
          <a:xfrm>
            <a:off x="3352800" y="1790700"/>
            <a:ext cx="13487400" cy="7221029"/>
          </a:xfrm>
          <a:prstGeom prst="rect">
            <a:avLst/>
          </a:prstGeom>
          <a:noFill/>
          <a:ln>
            <a:noFill/>
          </a:ln>
        </p:spPr>
      </p:pic>
      <p:sp>
        <p:nvSpPr>
          <p:cNvPr id="475" name="Google Shape;475;p29"/>
          <p:cNvSpPr/>
          <p:nvPr/>
        </p:nvSpPr>
        <p:spPr>
          <a:xfrm>
            <a:off x="3048000" y="2705100"/>
            <a:ext cx="14097000" cy="1683480"/>
          </a:xfrm>
          <a:prstGeom prst="rect">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476" name="Google Shape;476;p29"/>
          <p:cNvSpPr/>
          <p:nvPr/>
        </p:nvSpPr>
        <p:spPr>
          <a:xfrm>
            <a:off x="3078956" y="6717570"/>
            <a:ext cx="14066044" cy="177873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29"/>
          <p:cNvSpPr/>
          <p:nvPr/>
        </p:nvSpPr>
        <p:spPr>
          <a:xfrm>
            <a:off x="3078956" y="4904009"/>
            <a:ext cx="14066044" cy="1565372"/>
          </a:xfrm>
          <a:prstGeom prst="rect">
            <a:avLst/>
          </a:prstGeom>
          <a:noFill/>
          <a:ln cap="flat" cmpd="sng" w="76200">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82" name="Shape 482"/>
        <p:cNvGrpSpPr/>
        <p:nvPr/>
      </p:nvGrpSpPr>
      <p:grpSpPr>
        <a:xfrm>
          <a:off x="0" y="0"/>
          <a:ext cx="0" cy="0"/>
          <a:chOff x="0" y="0"/>
          <a:chExt cx="0" cy="0"/>
        </a:xfrm>
      </p:grpSpPr>
      <p:pic>
        <p:nvPicPr>
          <p:cNvPr id="483" name="Google Shape;483;p30"/>
          <p:cNvPicPr preferRelativeResize="0"/>
          <p:nvPr/>
        </p:nvPicPr>
        <p:blipFill rotWithShape="1">
          <a:blip r:embed="rId3">
            <a:alphaModFix/>
          </a:blip>
          <a:srcRect b="0" l="0" r="0" t="0"/>
          <a:stretch/>
        </p:blipFill>
        <p:spPr>
          <a:xfrm>
            <a:off x="0" y="-33475"/>
            <a:ext cx="3352800" cy="10320475"/>
          </a:xfrm>
          <a:prstGeom prst="rect">
            <a:avLst/>
          </a:prstGeom>
          <a:noFill/>
          <a:ln>
            <a:noFill/>
          </a:ln>
        </p:spPr>
      </p:pic>
      <p:sp>
        <p:nvSpPr>
          <p:cNvPr id="484" name="Google Shape;484;p30">
            <a:hlinkClick action="ppaction://hlinksldjump" r:id="rId4"/>
          </p:cNvPr>
          <p:cNvSpPr txBox="1"/>
          <p:nvPr/>
        </p:nvSpPr>
        <p:spPr>
          <a:xfrm rot="-5400000">
            <a:off x="-3395731" y="3827076"/>
            <a:ext cx="10320475" cy="2462213"/>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8000">
                <a:solidFill>
                  <a:srgbClr val="F2F2F2"/>
                </a:solidFill>
                <a:latin typeface="Arial"/>
                <a:ea typeface="Arial"/>
                <a:cs typeface="Arial"/>
                <a:sym typeface="Arial"/>
              </a:rPr>
              <a:t>ALGORITHMS APPLIED</a:t>
            </a:r>
            <a:endParaRPr/>
          </a:p>
        </p:txBody>
      </p:sp>
      <p:sp>
        <p:nvSpPr>
          <p:cNvPr id="485" name="Google Shape;485;p30"/>
          <p:cNvSpPr txBox="1"/>
          <p:nvPr/>
        </p:nvSpPr>
        <p:spPr>
          <a:xfrm>
            <a:off x="13279582" y="419100"/>
            <a:ext cx="502920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A1828"/>
                </a:solidFill>
                <a:latin typeface="Open Sans"/>
                <a:ea typeface="Open Sans"/>
                <a:cs typeface="Open Sans"/>
                <a:sym typeface="Open Sans"/>
              </a:rPr>
              <a:t>Android Malware Detection System</a:t>
            </a:r>
            <a:endParaRPr/>
          </a:p>
        </p:txBody>
      </p:sp>
      <p:sp>
        <p:nvSpPr>
          <p:cNvPr id="486" name="Google Shape;486;p30"/>
          <p:cNvSpPr/>
          <p:nvPr/>
        </p:nvSpPr>
        <p:spPr>
          <a:xfrm>
            <a:off x="12190888" y="2218696"/>
            <a:ext cx="3727236" cy="7496803"/>
          </a:xfrm>
          <a:prstGeom prst="rect">
            <a:avLst/>
          </a:prstGeom>
          <a:solidFill>
            <a:srgbClr val="0A1828"/>
          </a:solidFill>
          <a:ln cap="flat" cmpd="sng" w="2540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7" name="Google Shape;487;p30"/>
          <p:cNvSpPr/>
          <p:nvPr/>
        </p:nvSpPr>
        <p:spPr>
          <a:xfrm>
            <a:off x="12455271" y="2661203"/>
            <a:ext cx="3254853" cy="1979377"/>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Support Vector Machines (SVM)</a:t>
            </a:r>
            <a:endParaRPr sz="3600">
              <a:solidFill>
                <a:srgbClr val="0A1828"/>
              </a:solidFill>
              <a:latin typeface="Open Sans"/>
              <a:ea typeface="Open Sans"/>
              <a:cs typeface="Open Sans"/>
              <a:sym typeface="Open Sans"/>
            </a:endParaRPr>
          </a:p>
        </p:txBody>
      </p:sp>
      <p:sp>
        <p:nvSpPr>
          <p:cNvPr id="488" name="Google Shape;488;p30"/>
          <p:cNvSpPr/>
          <p:nvPr/>
        </p:nvSpPr>
        <p:spPr>
          <a:xfrm>
            <a:off x="12455271" y="5058182"/>
            <a:ext cx="3254853" cy="1979377"/>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Multi Layer Perception (MLP)</a:t>
            </a:r>
            <a:endParaRPr sz="3600">
              <a:solidFill>
                <a:srgbClr val="0A1828"/>
              </a:solidFill>
              <a:latin typeface="Open Sans"/>
              <a:ea typeface="Open Sans"/>
              <a:cs typeface="Open Sans"/>
              <a:sym typeface="Open Sans"/>
            </a:endParaRPr>
          </a:p>
        </p:txBody>
      </p:sp>
      <p:sp>
        <p:nvSpPr>
          <p:cNvPr id="489" name="Google Shape;489;p30"/>
          <p:cNvSpPr/>
          <p:nvPr/>
        </p:nvSpPr>
        <p:spPr>
          <a:xfrm>
            <a:off x="12455271" y="7301235"/>
            <a:ext cx="3254853" cy="1536871"/>
          </a:xfrm>
          <a:prstGeom prst="roundRect">
            <a:avLst>
              <a:gd fmla="val 16667" name="adj"/>
            </a:avLst>
          </a:prstGeom>
          <a:solidFill>
            <a:srgbClr val="F2F2F2"/>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lang="en-US" sz="3600">
                <a:solidFill>
                  <a:srgbClr val="0A1828"/>
                </a:solidFill>
                <a:highlight>
                  <a:srgbClr val="F7F7F7"/>
                </a:highlight>
                <a:latin typeface="Open Sans"/>
                <a:ea typeface="Open Sans"/>
                <a:cs typeface="Open Sans"/>
                <a:sym typeface="Open Sans"/>
              </a:rPr>
              <a:t>Random Forest (RF)</a:t>
            </a:r>
            <a:endParaRPr sz="3600">
              <a:solidFill>
                <a:srgbClr val="0A1828"/>
              </a:solidFill>
              <a:latin typeface="Open Sans"/>
              <a:ea typeface="Open Sans"/>
              <a:cs typeface="Open Sans"/>
              <a:sym typeface="Open Sans"/>
            </a:endParaRPr>
          </a:p>
        </p:txBody>
      </p:sp>
      <p:sp>
        <p:nvSpPr>
          <p:cNvPr id="490" name="Google Shape;490;p30"/>
          <p:cNvSpPr txBox="1"/>
          <p:nvPr/>
        </p:nvSpPr>
        <p:spPr>
          <a:xfrm>
            <a:off x="11452908" y="1434299"/>
            <a:ext cx="5082492" cy="1226904"/>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1" lang="en-US" sz="3200">
                <a:solidFill>
                  <a:srgbClr val="0A1828"/>
                </a:solidFill>
                <a:latin typeface="Open Sans"/>
                <a:ea typeface="Open Sans"/>
                <a:cs typeface="Open Sans"/>
                <a:sym typeface="Open Sans"/>
              </a:rPr>
              <a:t>New Algorithms</a:t>
            </a:r>
            <a:endParaRPr sz="3200">
              <a:solidFill>
                <a:srgbClr val="0A1828"/>
              </a:solidFill>
              <a:latin typeface="Open Sans"/>
              <a:ea typeface="Open Sans"/>
              <a:cs typeface="Open Sans"/>
              <a:sym typeface="Open Sans"/>
            </a:endParaRPr>
          </a:p>
        </p:txBody>
      </p:sp>
      <p:pic>
        <p:nvPicPr>
          <p:cNvPr id="491" name="Google Shape;491;p30"/>
          <p:cNvPicPr preferRelativeResize="0"/>
          <p:nvPr/>
        </p:nvPicPr>
        <p:blipFill rotWithShape="1">
          <a:blip r:embed="rId5">
            <a:alphaModFix/>
          </a:blip>
          <a:srcRect b="0" l="0" r="0" t="0"/>
          <a:stretch/>
        </p:blipFill>
        <p:spPr>
          <a:xfrm>
            <a:off x="3473155" y="2047751"/>
            <a:ext cx="8480901" cy="6669529"/>
          </a:xfrm>
          <a:prstGeom prst="rect">
            <a:avLst/>
          </a:prstGeom>
          <a:noFill/>
          <a:ln>
            <a:noFill/>
          </a:ln>
        </p:spPr>
      </p:pic>
      <p:pic>
        <p:nvPicPr>
          <p:cNvPr descr="Support vector machine - Wikipedia" id="492" name="Google Shape;492;p30"/>
          <p:cNvPicPr preferRelativeResize="0"/>
          <p:nvPr/>
        </p:nvPicPr>
        <p:blipFill rotWithShape="1">
          <a:blip r:embed="rId6">
            <a:alphaModFix/>
          </a:blip>
          <a:srcRect b="0" l="0" r="0" t="0"/>
          <a:stretch/>
        </p:blipFill>
        <p:spPr>
          <a:xfrm>
            <a:off x="3853600" y="2055371"/>
            <a:ext cx="7720012" cy="75094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1B10"/>
        </a:solidFill>
      </p:bgPr>
    </p:bg>
    <p:spTree>
      <p:nvGrpSpPr>
        <p:cNvPr id="497" name="Shape 497"/>
        <p:cNvGrpSpPr/>
        <p:nvPr/>
      </p:nvGrpSpPr>
      <p:grpSpPr>
        <a:xfrm>
          <a:off x="0" y="0"/>
          <a:ext cx="0" cy="0"/>
          <a:chOff x="0" y="0"/>
          <a:chExt cx="0" cy="0"/>
        </a:xfrm>
      </p:grpSpPr>
      <p:sp>
        <p:nvSpPr>
          <p:cNvPr id="498" name="Google Shape;498;p31"/>
          <p:cNvSpPr/>
          <p:nvPr/>
        </p:nvSpPr>
        <p:spPr>
          <a:xfrm rot="-5400000">
            <a:off x="3995057" y="-3866653"/>
            <a:ext cx="10287000" cy="18277114"/>
          </a:xfrm>
          <a:custGeom>
            <a:rect b="b" l="l" r="r" t="t"/>
            <a:pathLst>
              <a:path extrusionOk="0" h="18288000" w="10287000">
                <a:moveTo>
                  <a:pt x="0" y="0"/>
                </a:moveTo>
                <a:lnTo>
                  <a:pt x="10287000" y="0"/>
                </a:lnTo>
                <a:lnTo>
                  <a:pt x="10287000" y="18288000"/>
                </a:lnTo>
                <a:lnTo>
                  <a:pt x="0" y="1828800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DDD9C3"/>
              </a:solidFill>
              <a:latin typeface="Calibri"/>
              <a:ea typeface="Calibri"/>
              <a:cs typeface="Calibri"/>
              <a:sym typeface="Calibri"/>
            </a:endParaRPr>
          </a:p>
        </p:txBody>
      </p:sp>
      <p:pic>
        <p:nvPicPr>
          <p:cNvPr id="499" name="Google Shape;499;p31"/>
          <p:cNvPicPr preferRelativeResize="0"/>
          <p:nvPr/>
        </p:nvPicPr>
        <p:blipFill rotWithShape="1">
          <a:blip r:embed="rId4">
            <a:alphaModFix/>
          </a:blip>
          <a:srcRect b="0" l="0" r="0" t="0"/>
          <a:stretch/>
        </p:blipFill>
        <p:spPr>
          <a:xfrm>
            <a:off x="32657" y="284257"/>
            <a:ext cx="9437912" cy="5537377"/>
          </a:xfrm>
          <a:prstGeom prst="rect">
            <a:avLst/>
          </a:prstGeom>
          <a:noFill/>
          <a:ln>
            <a:noFill/>
          </a:ln>
        </p:spPr>
      </p:pic>
      <p:graphicFrame>
        <p:nvGraphicFramePr>
          <p:cNvPr id="500" name="Google Shape;500;p31"/>
          <p:cNvGraphicFramePr/>
          <p:nvPr/>
        </p:nvGraphicFramePr>
        <p:xfrm>
          <a:off x="10303329" y="1257300"/>
          <a:ext cx="4114800" cy="3396753"/>
        </p:xfrm>
        <a:graphic>
          <a:graphicData uri="http://schemas.openxmlformats.org/drawingml/2006/chart">
            <c:chart r:id="rId5"/>
          </a:graphicData>
        </a:graphic>
      </p:graphicFrame>
      <p:graphicFrame>
        <p:nvGraphicFramePr>
          <p:cNvPr id="501" name="Google Shape;501;p31"/>
          <p:cNvGraphicFramePr/>
          <p:nvPr/>
        </p:nvGraphicFramePr>
        <p:xfrm>
          <a:off x="9073245" y="5320306"/>
          <a:ext cx="4969329" cy="4010976"/>
        </p:xfrm>
        <a:graphic>
          <a:graphicData uri="http://schemas.openxmlformats.org/drawingml/2006/chart">
            <c:chart r:id="rId6"/>
          </a:graphicData>
        </a:graphic>
      </p:graphicFrame>
      <p:graphicFrame>
        <p:nvGraphicFramePr>
          <p:cNvPr id="502" name="Google Shape;502;p31"/>
          <p:cNvGraphicFramePr/>
          <p:nvPr/>
        </p:nvGraphicFramePr>
        <p:xfrm>
          <a:off x="14782800" y="723900"/>
          <a:ext cx="3287484" cy="9271000"/>
        </p:xfrm>
        <a:graphic>
          <a:graphicData uri="http://schemas.openxmlformats.org/drawingml/2006/chart">
            <c:chart r:id="rId7"/>
          </a:graphicData>
        </a:graphic>
      </p:graphicFrame>
      <p:graphicFrame>
        <p:nvGraphicFramePr>
          <p:cNvPr id="503" name="Google Shape;503;p31"/>
          <p:cNvGraphicFramePr/>
          <p:nvPr/>
        </p:nvGraphicFramePr>
        <p:xfrm>
          <a:off x="152400" y="6487887"/>
          <a:ext cx="3352800" cy="2870609"/>
        </p:xfrm>
        <a:graphic>
          <a:graphicData uri="http://schemas.openxmlformats.org/drawingml/2006/chart">
            <c:chart r:id="rId8"/>
          </a:graphicData>
        </a:graphic>
      </p:graphicFrame>
      <p:graphicFrame>
        <p:nvGraphicFramePr>
          <p:cNvPr id="504" name="Google Shape;504;p31"/>
          <p:cNvGraphicFramePr/>
          <p:nvPr/>
        </p:nvGraphicFramePr>
        <p:xfrm>
          <a:off x="3467099" y="6476884"/>
          <a:ext cx="3352800" cy="2870609"/>
        </p:xfrm>
        <a:graphic>
          <a:graphicData uri="http://schemas.openxmlformats.org/drawingml/2006/chart">
            <c:chart r:id="rId9"/>
          </a:graphicData>
        </a:graphic>
      </p:graphicFrame>
      <p:graphicFrame>
        <p:nvGraphicFramePr>
          <p:cNvPr id="505" name="Google Shape;505;p31"/>
          <p:cNvGraphicFramePr/>
          <p:nvPr/>
        </p:nvGraphicFramePr>
        <p:xfrm>
          <a:off x="6117769" y="6487887"/>
          <a:ext cx="3352800" cy="2870609"/>
        </p:xfrm>
        <a:graphic>
          <a:graphicData uri="http://schemas.openxmlformats.org/drawingml/2006/chart">
            <c:chart r:id="rId10"/>
          </a:graphicData>
        </a:graphic>
      </p:graphicFrame>
      <p:cxnSp>
        <p:nvCxnSpPr>
          <p:cNvPr id="506" name="Google Shape;506;p31"/>
          <p:cNvCxnSpPr/>
          <p:nvPr/>
        </p:nvCxnSpPr>
        <p:spPr>
          <a:xfrm>
            <a:off x="14589578" y="833751"/>
            <a:ext cx="0" cy="7831278"/>
          </a:xfrm>
          <a:prstGeom prst="straightConnector1">
            <a:avLst/>
          </a:prstGeom>
          <a:noFill/>
          <a:ln cap="flat" cmpd="sng" w="9525">
            <a:solidFill>
              <a:srgbClr val="DDD9C3"/>
            </a:solidFill>
            <a:prstDash val="solid"/>
            <a:round/>
            <a:headEnd len="sm" w="sm" type="none"/>
            <a:tailEnd len="sm" w="sm" type="none"/>
          </a:ln>
          <a:effectLst>
            <a:outerShdw blurRad="50800" rotWithShape="0" algn="tl" dir="2700000" dist="38100">
              <a:srgbClr val="000000">
                <a:alpha val="40000"/>
              </a:srgbClr>
            </a:outerShdw>
          </a:effectLst>
        </p:spPr>
      </p:cxnSp>
      <p:cxnSp>
        <p:nvCxnSpPr>
          <p:cNvPr id="507" name="Google Shape;507;p31"/>
          <p:cNvCxnSpPr/>
          <p:nvPr/>
        </p:nvCxnSpPr>
        <p:spPr>
          <a:xfrm>
            <a:off x="533400" y="6134100"/>
            <a:ext cx="8229600" cy="0"/>
          </a:xfrm>
          <a:prstGeom prst="straightConnector1">
            <a:avLst/>
          </a:prstGeom>
          <a:noFill/>
          <a:ln cap="flat" cmpd="sng" w="9525">
            <a:solidFill>
              <a:srgbClr val="DDD9C3"/>
            </a:solidFill>
            <a:prstDash val="solid"/>
            <a:round/>
            <a:headEnd len="sm" w="sm" type="none"/>
            <a:tailEnd len="sm" w="sm" type="none"/>
          </a:ln>
        </p:spPr>
      </p:cxnSp>
      <p:graphicFrame>
        <p:nvGraphicFramePr>
          <p:cNvPr id="508" name="Google Shape;508;p31"/>
          <p:cNvGraphicFramePr/>
          <p:nvPr/>
        </p:nvGraphicFramePr>
        <p:xfrm>
          <a:off x="3054801" y="6526981"/>
          <a:ext cx="3352800" cy="2870609"/>
        </p:xfrm>
        <a:graphic>
          <a:graphicData uri="http://schemas.openxmlformats.org/drawingml/2006/chart">
            <c:chart r:id="rId11"/>
          </a:graphicData>
        </a:graphic>
      </p:graphicFrame>
      <p:graphicFrame>
        <p:nvGraphicFramePr>
          <p:cNvPr id="509" name="Google Shape;509;p31"/>
          <p:cNvGraphicFramePr/>
          <p:nvPr/>
        </p:nvGraphicFramePr>
        <p:xfrm>
          <a:off x="5903458" y="6498890"/>
          <a:ext cx="3352800" cy="2870609"/>
        </p:xfrm>
        <a:graphic>
          <a:graphicData uri="http://schemas.openxmlformats.org/drawingml/2006/chart">
            <c:chart r:id="rId12"/>
          </a:graphicData>
        </a:graphic>
      </p:graphicFrame>
      <p:sp>
        <p:nvSpPr>
          <p:cNvPr id="510" name="Google Shape;510;p31"/>
          <p:cNvSpPr txBox="1"/>
          <p:nvPr/>
        </p:nvSpPr>
        <p:spPr>
          <a:xfrm rot="-5400000">
            <a:off x="-1036155" y="2799351"/>
            <a:ext cx="4278370" cy="98488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u="none" strike="noStrike">
                <a:solidFill>
                  <a:srgbClr val="DDD9C3"/>
                </a:solidFill>
                <a:latin typeface="Open Sans"/>
                <a:ea typeface="Open Sans"/>
                <a:cs typeface="Open Sans"/>
                <a:sym typeface="Open Sans"/>
              </a:rPr>
              <a:t>Android Malware Distribution</a:t>
            </a:r>
            <a:endParaRPr/>
          </a:p>
        </p:txBody>
      </p:sp>
      <p:sp>
        <p:nvSpPr>
          <p:cNvPr id="511" name="Google Shape;511;p31"/>
          <p:cNvSpPr txBox="1"/>
          <p:nvPr/>
        </p:nvSpPr>
        <p:spPr>
          <a:xfrm rot="-5400000">
            <a:off x="-1675247" y="7863891"/>
            <a:ext cx="4278370"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u="none" strike="noStrike">
                <a:solidFill>
                  <a:srgbClr val="DDD9C3"/>
                </a:solidFill>
                <a:latin typeface="Open Sans"/>
                <a:ea typeface="Open Sans"/>
                <a:cs typeface="Open Sans"/>
                <a:sym typeface="Open Sans"/>
              </a:rPr>
              <a:t>Plot Distribution</a:t>
            </a:r>
            <a:endParaRPr/>
          </a:p>
        </p:txBody>
      </p:sp>
      <p:sp>
        <p:nvSpPr>
          <p:cNvPr id="512" name="Google Shape;512;p31"/>
          <p:cNvSpPr txBox="1"/>
          <p:nvPr/>
        </p:nvSpPr>
        <p:spPr>
          <a:xfrm>
            <a:off x="7460139" y="507631"/>
            <a:ext cx="7288270" cy="49244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u="none" strike="noStrike">
                <a:solidFill>
                  <a:srgbClr val="DDD9C3"/>
                </a:solidFill>
                <a:latin typeface="Open Sans"/>
                <a:ea typeface="Open Sans"/>
                <a:cs typeface="Open Sans"/>
                <a:sym typeface="Open Sans"/>
              </a:rPr>
              <a:t>Classification of apps using categories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